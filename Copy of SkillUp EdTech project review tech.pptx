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4"/>
    <p:sldMasterId id="2147483683" r:id="rId5"/>
    <p:sldMasterId id="2147483684" r:id="rId6"/>
    <p:sldMasterId id="214748368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</p:sldIdLst>
  <p:sldSz cy="6858000" cx="12192000"/>
  <p:notesSz cx="6858000" cy="9144000"/>
  <p:embeddedFontLst>
    <p:embeddedFont>
      <p:font typeface="Nunito"/>
      <p:regular r:id="rId36"/>
      <p:bold r:id="rId37"/>
      <p:italic r:id="rId38"/>
      <p:boldItalic r:id="rId39"/>
    </p:embeddedFont>
    <p:embeddedFont>
      <p:font typeface="Inter"/>
      <p:regular r:id="rId40"/>
      <p:bold r:id="rId41"/>
      <p:italic r:id="rId42"/>
      <p:boldItalic r:id="rId43"/>
    </p:embeddedFont>
    <p:embeddedFont>
      <p:font typeface="Manrope"/>
      <p:regular r:id="rId44"/>
      <p:bold r:id="rId45"/>
    </p:embeddedFont>
    <p:embeddedFont>
      <p:font typeface="Montserrat SemiBold"/>
      <p:regular r:id="rId46"/>
      <p:bold r:id="rId47"/>
      <p:italic r:id="rId48"/>
      <p:boldItalic r:id="rId49"/>
    </p:embeddedFont>
    <p:embeddedFont>
      <p:font typeface="Inter SemiBold"/>
      <p:regular r:id="rId50"/>
      <p:bold r:id="rId51"/>
      <p:italic r:id="rId52"/>
      <p:boldItalic r:id="rId53"/>
    </p:embeddedFont>
    <p:embeddedFont>
      <p:font typeface="Montserrat"/>
      <p:regular r:id="rId54"/>
      <p:bold r:id="rId55"/>
      <p:italic r:id="rId56"/>
      <p:boldItalic r:id="rId57"/>
    </p:embeddedFont>
    <p:embeddedFont>
      <p:font typeface="Plus Jakarta Sans"/>
      <p:regular r:id="rId58"/>
      <p:bold r:id="rId59"/>
      <p:italic r:id="rId60"/>
      <p:boldItalic r:id="rId61"/>
    </p:embeddedFont>
    <p:embeddedFont>
      <p:font typeface="Urbanist Medium"/>
      <p:regular r:id="rId62"/>
      <p:bold r:id="rId63"/>
      <p:italic r:id="rId64"/>
      <p:boldItalic r:id="rId65"/>
    </p:embeddedFont>
    <p:embeddedFont>
      <p:font typeface="Open Sans SemiBold"/>
      <p:regular r:id="rId66"/>
      <p:bold r:id="rId67"/>
      <p:italic r:id="rId68"/>
      <p:boldItalic r:id="rId69"/>
    </p:embeddedFont>
    <p:embeddedFont>
      <p:font typeface="Urbanist"/>
      <p:regular r:id="rId70"/>
      <p:bold r:id="rId71"/>
      <p:italic r:id="rId72"/>
      <p:boldItalic r:id="rId73"/>
    </p:embeddedFont>
    <p:embeddedFont>
      <p:font typeface="Arial Black"/>
      <p:regular r:id="rId74"/>
    </p:embeddedFont>
    <p:embeddedFont>
      <p:font typeface="Open Sans"/>
      <p:regular r:id="rId75"/>
      <p:bold r:id="rId76"/>
      <p:italic r:id="rId77"/>
      <p:boldItalic r:id="rId7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regular.fntdata"/><Relationship Id="rId42" Type="http://schemas.openxmlformats.org/officeDocument/2006/relationships/font" Target="fonts/Inter-italic.fntdata"/><Relationship Id="rId41" Type="http://schemas.openxmlformats.org/officeDocument/2006/relationships/font" Target="fonts/Inter-bold.fntdata"/><Relationship Id="rId44" Type="http://schemas.openxmlformats.org/officeDocument/2006/relationships/font" Target="fonts/Manrope-regular.fntdata"/><Relationship Id="rId43" Type="http://schemas.openxmlformats.org/officeDocument/2006/relationships/font" Target="fonts/Inter-boldItalic.fntdata"/><Relationship Id="rId46" Type="http://schemas.openxmlformats.org/officeDocument/2006/relationships/font" Target="fonts/MontserratSemiBold-regular.fntdata"/><Relationship Id="rId45" Type="http://schemas.openxmlformats.org/officeDocument/2006/relationships/font" Target="fonts/Manrope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48" Type="http://schemas.openxmlformats.org/officeDocument/2006/relationships/font" Target="fonts/MontserratSemiBold-italic.fntdata"/><Relationship Id="rId47" Type="http://schemas.openxmlformats.org/officeDocument/2006/relationships/font" Target="fonts/MontserratSemiBold-bold.fntdata"/><Relationship Id="rId49" Type="http://schemas.openxmlformats.org/officeDocument/2006/relationships/font" Target="fonts/MontserratSemiBold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73" Type="http://schemas.openxmlformats.org/officeDocument/2006/relationships/font" Target="fonts/Urbanist-boldItalic.fntdata"/><Relationship Id="rId72" Type="http://schemas.openxmlformats.org/officeDocument/2006/relationships/font" Target="fonts/Urbanist-italic.fntdata"/><Relationship Id="rId31" Type="http://schemas.openxmlformats.org/officeDocument/2006/relationships/slide" Target="slides/slide23.xml"/><Relationship Id="rId75" Type="http://schemas.openxmlformats.org/officeDocument/2006/relationships/font" Target="fonts/OpenSans-regular.fntdata"/><Relationship Id="rId30" Type="http://schemas.openxmlformats.org/officeDocument/2006/relationships/slide" Target="slides/slide22.xml"/><Relationship Id="rId74" Type="http://schemas.openxmlformats.org/officeDocument/2006/relationships/font" Target="fonts/ArialBlack-regular.fntdata"/><Relationship Id="rId33" Type="http://schemas.openxmlformats.org/officeDocument/2006/relationships/slide" Target="slides/slide25.xml"/><Relationship Id="rId77" Type="http://schemas.openxmlformats.org/officeDocument/2006/relationships/font" Target="fonts/OpenSans-italic.fntdata"/><Relationship Id="rId32" Type="http://schemas.openxmlformats.org/officeDocument/2006/relationships/slide" Target="slides/slide24.xml"/><Relationship Id="rId76" Type="http://schemas.openxmlformats.org/officeDocument/2006/relationships/font" Target="fonts/OpenSans-bold.fntdata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78" Type="http://schemas.openxmlformats.org/officeDocument/2006/relationships/font" Target="fonts/OpenSans-boldItalic.fntdata"/><Relationship Id="rId71" Type="http://schemas.openxmlformats.org/officeDocument/2006/relationships/font" Target="fonts/Urbanist-bold.fntdata"/><Relationship Id="rId70" Type="http://schemas.openxmlformats.org/officeDocument/2006/relationships/font" Target="fonts/Urbanist-regular.fntdata"/><Relationship Id="rId37" Type="http://schemas.openxmlformats.org/officeDocument/2006/relationships/font" Target="fonts/Nunito-bold.fntdata"/><Relationship Id="rId36" Type="http://schemas.openxmlformats.org/officeDocument/2006/relationships/font" Target="fonts/Nunito-regular.fntdata"/><Relationship Id="rId39" Type="http://schemas.openxmlformats.org/officeDocument/2006/relationships/font" Target="fonts/Nunito-boldItalic.fntdata"/><Relationship Id="rId38" Type="http://schemas.openxmlformats.org/officeDocument/2006/relationships/font" Target="fonts/Nunito-italic.fntdata"/><Relationship Id="rId62" Type="http://schemas.openxmlformats.org/officeDocument/2006/relationships/font" Target="fonts/UrbanistMedium-regular.fntdata"/><Relationship Id="rId61" Type="http://schemas.openxmlformats.org/officeDocument/2006/relationships/font" Target="fonts/PlusJakartaSans-boldItalic.fntdata"/><Relationship Id="rId20" Type="http://schemas.openxmlformats.org/officeDocument/2006/relationships/slide" Target="slides/slide12.xml"/><Relationship Id="rId64" Type="http://schemas.openxmlformats.org/officeDocument/2006/relationships/font" Target="fonts/UrbanistMedium-italic.fntdata"/><Relationship Id="rId63" Type="http://schemas.openxmlformats.org/officeDocument/2006/relationships/font" Target="fonts/UrbanistMedium-bold.fntdata"/><Relationship Id="rId22" Type="http://schemas.openxmlformats.org/officeDocument/2006/relationships/slide" Target="slides/slide14.xml"/><Relationship Id="rId66" Type="http://schemas.openxmlformats.org/officeDocument/2006/relationships/font" Target="fonts/OpenSansSemiBold-regular.fntdata"/><Relationship Id="rId21" Type="http://schemas.openxmlformats.org/officeDocument/2006/relationships/slide" Target="slides/slide13.xml"/><Relationship Id="rId65" Type="http://schemas.openxmlformats.org/officeDocument/2006/relationships/font" Target="fonts/UrbanistMedium-boldItalic.fntdata"/><Relationship Id="rId24" Type="http://schemas.openxmlformats.org/officeDocument/2006/relationships/slide" Target="slides/slide16.xml"/><Relationship Id="rId68" Type="http://schemas.openxmlformats.org/officeDocument/2006/relationships/font" Target="fonts/OpenSansSemiBold-italic.fntdata"/><Relationship Id="rId23" Type="http://schemas.openxmlformats.org/officeDocument/2006/relationships/slide" Target="slides/slide15.xml"/><Relationship Id="rId67" Type="http://schemas.openxmlformats.org/officeDocument/2006/relationships/font" Target="fonts/OpenSansSemiBold-bold.fntdata"/><Relationship Id="rId60" Type="http://schemas.openxmlformats.org/officeDocument/2006/relationships/font" Target="fonts/PlusJakartaSans-italic.fntdata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69" Type="http://schemas.openxmlformats.org/officeDocument/2006/relationships/font" Target="fonts/OpenSansSemiBold-boldItalic.fntdata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font" Target="fonts/InterSemiBold-bold.fntdata"/><Relationship Id="rId50" Type="http://schemas.openxmlformats.org/officeDocument/2006/relationships/font" Target="fonts/InterSemiBold-regular.fntdata"/><Relationship Id="rId53" Type="http://schemas.openxmlformats.org/officeDocument/2006/relationships/font" Target="fonts/InterSemiBold-boldItalic.fntdata"/><Relationship Id="rId52" Type="http://schemas.openxmlformats.org/officeDocument/2006/relationships/font" Target="fonts/InterSemiBold-italic.fntdata"/><Relationship Id="rId11" Type="http://schemas.openxmlformats.org/officeDocument/2006/relationships/slide" Target="slides/slide3.xml"/><Relationship Id="rId55" Type="http://schemas.openxmlformats.org/officeDocument/2006/relationships/font" Target="fonts/Montserrat-bold.fntdata"/><Relationship Id="rId10" Type="http://schemas.openxmlformats.org/officeDocument/2006/relationships/slide" Target="slides/slide2.xml"/><Relationship Id="rId54" Type="http://schemas.openxmlformats.org/officeDocument/2006/relationships/font" Target="fonts/Montserrat-regular.fntdata"/><Relationship Id="rId13" Type="http://schemas.openxmlformats.org/officeDocument/2006/relationships/slide" Target="slides/slide5.xml"/><Relationship Id="rId57" Type="http://schemas.openxmlformats.org/officeDocument/2006/relationships/font" Target="fonts/Montserrat-boldItalic.fntdata"/><Relationship Id="rId12" Type="http://schemas.openxmlformats.org/officeDocument/2006/relationships/slide" Target="slides/slide4.xml"/><Relationship Id="rId56" Type="http://schemas.openxmlformats.org/officeDocument/2006/relationships/font" Target="fonts/Montserrat-italic.fntdata"/><Relationship Id="rId15" Type="http://schemas.openxmlformats.org/officeDocument/2006/relationships/slide" Target="slides/slide7.xml"/><Relationship Id="rId59" Type="http://schemas.openxmlformats.org/officeDocument/2006/relationships/font" Target="fonts/PlusJakartaSans-bold.fntdata"/><Relationship Id="rId14" Type="http://schemas.openxmlformats.org/officeDocument/2006/relationships/slide" Target="slides/slide6.xml"/><Relationship Id="rId58" Type="http://schemas.openxmlformats.org/officeDocument/2006/relationships/font" Target="fonts/PlusJakartaSans-regular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fa360e5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fa360e5d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fa360e5d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dfa360e5d5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5711909aa_3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e5711909aa_3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e5711909aa_3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e5711909aa_3_2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e5711909aa_3_2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e5711909aa_3_2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e853710145_4_5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e853710145_4_5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e853710145_4_5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dfa360e5d5_0_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dfa360e5d5_0_3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e853710145_4_7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e853710145_4_7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e853710145_4_7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e853710145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e853710145_0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e853710145_4_8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3e853710145_4_8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g3e853710145_4_8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e853710145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g3e853710145_0_2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e853710145_0_80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g3e853710145_0_80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g3e853710145_0_80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e4a2a969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e4a2a9692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e853710145_0_5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g3e853710145_0_5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dfa360e5d5_0_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g3dfa360e5d5_0_8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e853710145_0_8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g3e853710145_0_81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e853710145_0_81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e853710145_4_14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g3e853710145_4_14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g3e853710145_4_14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e853710145_4_10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g3e853710145_4_10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g3e853710145_4_10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3e853710145_4_1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g3e853710145_4_12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g3e853710145_4_12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e853710145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g3e853710145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e853710145_4_15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5" name="Google Shape;685;g3e853710145_4_15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g3e853710145_4_15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3e853710145_4_13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g3e853710145_4_13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g3e853710145_4_13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573" y="6459321"/>
            <a:ext cx="1429125" cy="34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573" y="6459321"/>
            <a:ext cx="1429125" cy="34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573" y="6459321"/>
            <a:ext cx="1429125" cy="34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573" y="6459321"/>
            <a:ext cx="1429125" cy="34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573" y="6459321"/>
            <a:ext cx="1429125" cy="34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" name="Google Shape;105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573" y="6459321"/>
            <a:ext cx="1429125" cy="34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2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573" y="6459321"/>
            <a:ext cx="1429125" cy="34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573" y="6459321"/>
            <a:ext cx="1429125" cy="34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" name="Google Shape;117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573" y="6459321"/>
            <a:ext cx="1429125" cy="34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252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" name="Google Shape;121;p2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05573" y="6459321"/>
            <a:ext cx="1429125" cy="34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2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9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7" name="Google Shape;147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30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53" name="Google Shape;153;p30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54" name="Google Shape;154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31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0" name="Google Shape;160;p31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1" name="Google Shape;161;p31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62" name="Google Shape;162;p31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63" name="Google Shape;163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3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74" name="Google Shape;174;p33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5" name="Google Shape;175;p3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3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82" name="Google Shape;182;p3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5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8" name="Google Shape;188;p3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6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4" name="Google Shape;194;p3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5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4" name="Google Shape;124;p2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6" name="Google Shape;126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image" Target="../media/image2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11.png"/><Relationship Id="rId5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46.png"/><Relationship Id="rId6" Type="http://schemas.openxmlformats.org/officeDocument/2006/relationships/image" Target="../media/image16.png"/><Relationship Id="rId7" Type="http://schemas.openxmlformats.org/officeDocument/2006/relationships/image" Target="../media/image26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5.png"/><Relationship Id="rId4" Type="http://schemas.openxmlformats.org/officeDocument/2006/relationships/image" Target="../media/image28.png"/><Relationship Id="rId5" Type="http://schemas.openxmlformats.org/officeDocument/2006/relationships/image" Target="../media/image31.png"/><Relationship Id="rId6" Type="http://schemas.openxmlformats.org/officeDocument/2006/relationships/image" Target="../media/image34.png"/><Relationship Id="rId7" Type="http://schemas.openxmlformats.org/officeDocument/2006/relationships/image" Target="../media/image29.png"/><Relationship Id="rId8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1.png"/><Relationship Id="rId4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Relationship Id="rId4" Type="http://schemas.openxmlformats.org/officeDocument/2006/relationships/image" Target="../media/image5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Relationship Id="rId4" Type="http://schemas.openxmlformats.org/officeDocument/2006/relationships/image" Target="../media/image47.png"/><Relationship Id="rId5" Type="http://schemas.openxmlformats.org/officeDocument/2006/relationships/image" Target="../media/image32.png"/><Relationship Id="rId6" Type="http://schemas.openxmlformats.org/officeDocument/2006/relationships/image" Target="../media/image48.png"/><Relationship Id="rId7" Type="http://schemas.openxmlformats.org/officeDocument/2006/relationships/image" Target="../media/image43.png"/><Relationship Id="rId8" Type="http://schemas.openxmlformats.org/officeDocument/2006/relationships/image" Target="../media/image3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Relationship Id="rId4" Type="http://schemas.openxmlformats.org/officeDocument/2006/relationships/image" Target="../media/image38.png"/><Relationship Id="rId5" Type="http://schemas.openxmlformats.org/officeDocument/2006/relationships/image" Target="../media/image49.png"/><Relationship Id="rId6" Type="http://schemas.openxmlformats.org/officeDocument/2006/relationships/image" Target="../media/image44.png"/><Relationship Id="rId7" Type="http://schemas.openxmlformats.org/officeDocument/2006/relationships/image" Target="../media/image37.png"/><Relationship Id="rId8" Type="http://schemas.openxmlformats.org/officeDocument/2006/relationships/image" Target="../media/image3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5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9"/>
          <p:cNvSpPr txBox="1"/>
          <p:nvPr/>
        </p:nvSpPr>
        <p:spPr>
          <a:xfrm>
            <a:off x="5387400" y="1977500"/>
            <a:ext cx="6804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SkillUp EdTech </a:t>
            </a:r>
            <a:endParaRPr/>
          </a:p>
        </p:txBody>
      </p:sp>
      <p:sp>
        <p:nvSpPr>
          <p:cNvPr id="204" name="Google Shape;204;p39"/>
          <p:cNvSpPr txBox="1"/>
          <p:nvPr/>
        </p:nvSpPr>
        <p:spPr>
          <a:xfrm>
            <a:off x="5680350" y="2546013"/>
            <a:ext cx="6207000" cy="15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ONE YEAR PROGRAM</a:t>
            </a:r>
            <a:r>
              <a:rPr b="1" lang="en-US" sz="4800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 PLAN</a:t>
            </a:r>
            <a:endParaRPr/>
          </a:p>
        </p:txBody>
      </p:sp>
      <p:sp>
        <p:nvSpPr>
          <p:cNvPr id="205" name="Google Shape;205;p39"/>
          <p:cNvSpPr txBox="1"/>
          <p:nvPr/>
        </p:nvSpPr>
        <p:spPr>
          <a:xfrm>
            <a:off x="5914000" y="4328000"/>
            <a:ext cx="58725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A comprehensive workstream report covering </a:t>
            </a:r>
            <a:r>
              <a:rPr lang="en-US" sz="135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free training,</a:t>
            </a:r>
            <a:r>
              <a:rPr b="0" i="0" lang="en-US" sz="135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webinars,</a:t>
            </a:r>
            <a:r>
              <a:rPr b="0" i="0" lang="en-US" sz="135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35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secondary schools,</a:t>
            </a:r>
            <a:r>
              <a:rPr b="0" i="0" lang="en-US" sz="135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 and the </a:t>
            </a:r>
            <a:r>
              <a:rPr lang="en-US" sz="135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online academy for a </a:t>
            </a:r>
            <a:r>
              <a:rPr lang="en-US" sz="135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year</a:t>
            </a:r>
            <a:r>
              <a:rPr lang="en-US" sz="135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pic>
        <p:nvPicPr>
          <p:cNvPr id="206" name="Google Shape;206;p39" title="Icon@2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300" y="1400800"/>
            <a:ext cx="4056423" cy="405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398639"/>
            <a:ext cx="5229225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007989"/>
            <a:ext cx="2519362" cy="2039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91612" y="2007989"/>
            <a:ext cx="2519362" cy="2039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4237732"/>
            <a:ext cx="2519362" cy="2039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91612" y="4237732"/>
            <a:ext cx="2519362" cy="2039242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40"/>
          <p:cNvSpPr txBox="1"/>
          <p:nvPr/>
        </p:nvSpPr>
        <p:spPr>
          <a:xfrm>
            <a:off x="581025" y="2198489"/>
            <a:ext cx="52293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SkillUp EdTech is deploying a four-pillar model to bridge the national skills gap. Our objective is to transition from a social-impact focus to a high-scale commercial engine.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8" name="Google Shape;218;p40"/>
          <p:cNvSpPr txBox="1"/>
          <p:nvPr/>
        </p:nvSpPr>
        <p:spPr>
          <a:xfrm>
            <a:off x="876300" y="3693914"/>
            <a:ext cx="4870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Annual Revenue Target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9" name="Google Shape;219;p40"/>
          <p:cNvSpPr txBox="1"/>
          <p:nvPr/>
        </p:nvSpPr>
        <p:spPr>
          <a:xfrm>
            <a:off x="876300" y="4284464"/>
            <a:ext cx="4638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7</a:t>
            </a:r>
            <a:r>
              <a:rPr b="1" i="0" lang="en-US" sz="60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0M NGN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0" name="Google Shape;220;p40"/>
          <p:cNvSpPr txBox="1"/>
          <p:nvPr/>
        </p:nvSpPr>
        <p:spPr>
          <a:xfrm>
            <a:off x="6677025" y="2303264"/>
            <a:ext cx="2025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4 Workstreams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1" name="Google Shape;221;p40"/>
          <p:cNvSpPr txBox="1"/>
          <p:nvPr/>
        </p:nvSpPr>
        <p:spPr>
          <a:xfrm>
            <a:off x="6677025" y="2893814"/>
            <a:ext cx="1928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Integrated learning pathways for all ages.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2" name="Google Shape;222;p40"/>
          <p:cNvSpPr txBox="1"/>
          <p:nvPr/>
        </p:nvSpPr>
        <p:spPr>
          <a:xfrm>
            <a:off x="9386887" y="2303264"/>
            <a:ext cx="2025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4-Month Cycles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3" name="Google Shape;223;p40"/>
          <p:cNvSpPr txBox="1"/>
          <p:nvPr/>
        </p:nvSpPr>
        <p:spPr>
          <a:xfrm>
            <a:off x="9386887" y="2893814"/>
            <a:ext cx="1928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Agile rollover for continuous scaling.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4" name="Google Shape;224;p40"/>
          <p:cNvSpPr txBox="1"/>
          <p:nvPr/>
        </p:nvSpPr>
        <p:spPr>
          <a:xfrm>
            <a:off x="6677025" y="4533007"/>
            <a:ext cx="2025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200 Base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5" name="Google Shape;225;p40"/>
          <p:cNvSpPr txBox="1"/>
          <p:nvPr/>
        </p:nvSpPr>
        <p:spPr>
          <a:xfrm>
            <a:off x="6677025" y="5123557"/>
            <a:ext cx="1928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Initial free subscriber milestone.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6" name="Google Shape;226;p40"/>
          <p:cNvSpPr txBox="1"/>
          <p:nvPr/>
        </p:nvSpPr>
        <p:spPr>
          <a:xfrm>
            <a:off x="9386887" y="4533007"/>
            <a:ext cx="20253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10k Goal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7" name="Google Shape;227;p40"/>
          <p:cNvSpPr txBox="1"/>
          <p:nvPr/>
        </p:nvSpPr>
        <p:spPr>
          <a:xfrm>
            <a:off x="9386887" y="5123557"/>
            <a:ext cx="1928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Paid subscribers by Year-End.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8" name="Google Shape;228;p40"/>
          <p:cNvSpPr txBox="1"/>
          <p:nvPr/>
        </p:nvSpPr>
        <p:spPr>
          <a:xfrm>
            <a:off x="581025" y="1007864"/>
            <a:ext cx="115815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rPr>
              <a:t>Executive Overview</a:t>
            </a:r>
            <a:endParaRPr b="1">
              <a:solidFill>
                <a:schemeClr val="accen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1"/>
          <p:cNvSpPr/>
          <p:nvPr/>
        </p:nvSpPr>
        <p:spPr>
          <a:xfrm>
            <a:off x="0" y="0"/>
            <a:ext cx="5608320" cy="6858000"/>
          </a:xfrm>
          <a:prstGeom prst="rect">
            <a:avLst/>
          </a:prstGeom>
          <a:solidFill>
            <a:srgbClr val="060C1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4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41"/>
          <p:cNvSpPr/>
          <p:nvPr/>
        </p:nvSpPr>
        <p:spPr>
          <a:xfrm>
            <a:off x="426720" y="670560"/>
            <a:ext cx="4754880" cy="1950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Arial Black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PROBLEM</a:t>
            </a:r>
            <a:endParaRPr b="1" i="0" sz="3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Arial Black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WE'RE SOLVING</a:t>
            </a:r>
            <a:endParaRPr b="1" i="0" sz="37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41"/>
          <p:cNvSpPr/>
          <p:nvPr/>
        </p:nvSpPr>
        <p:spPr>
          <a:xfrm>
            <a:off x="426720" y="2743200"/>
            <a:ext cx="4754880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Nigeria's Skills Gap Crisis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1"/>
          <p:cNvSpPr/>
          <p:nvPr/>
        </p:nvSpPr>
        <p:spPr>
          <a:xfrm>
            <a:off x="426720" y="3352800"/>
            <a:ext cx="4754880" cy="1950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Millions of graduates enter the workforce every year, yet the digital economy remains understaffed. The gap between academic output and industry-ready talent is widening — and SkillUp EdTech was built to close it.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1"/>
          <p:cNvSpPr/>
          <p:nvPr/>
        </p:nvSpPr>
        <p:spPr>
          <a:xfrm>
            <a:off x="5974080" y="670560"/>
            <a:ext cx="5852160" cy="1682496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A22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38100">
              <a:srgbClr val="000000">
                <a:alpha val="1803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41"/>
          <p:cNvSpPr/>
          <p:nvPr/>
        </p:nvSpPr>
        <p:spPr>
          <a:xfrm>
            <a:off x="5974080" y="670560"/>
            <a:ext cx="85344" cy="1682496"/>
          </a:xfrm>
          <a:prstGeom prst="rect">
            <a:avLst/>
          </a:prstGeom>
          <a:solidFill>
            <a:srgbClr val="1D6EE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1" name="Google Shape;24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920" y="1182624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1"/>
          <p:cNvSpPr/>
          <p:nvPr/>
        </p:nvSpPr>
        <p:spPr>
          <a:xfrm>
            <a:off x="6949440" y="816864"/>
            <a:ext cx="1828800" cy="67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Arial Black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600K+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41"/>
          <p:cNvSpPr/>
          <p:nvPr/>
        </p:nvSpPr>
        <p:spPr>
          <a:xfrm>
            <a:off x="6949440" y="1487424"/>
            <a:ext cx="4511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Graduates per year with no job-ready digital skills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41"/>
          <p:cNvSpPr/>
          <p:nvPr/>
        </p:nvSpPr>
        <p:spPr>
          <a:xfrm>
            <a:off x="5974080" y="2682240"/>
            <a:ext cx="5852160" cy="1682496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A22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38100">
              <a:srgbClr val="000000">
                <a:alpha val="1803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41"/>
          <p:cNvSpPr/>
          <p:nvPr/>
        </p:nvSpPr>
        <p:spPr>
          <a:xfrm>
            <a:off x="5974080" y="2682240"/>
            <a:ext cx="85344" cy="1682496"/>
          </a:xfrm>
          <a:prstGeom prst="rect">
            <a:avLst/>
          </a:prstGeom>
          <a:solidFill>
            <a:srgbClr val="1D6EE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6" name="Google Shape;246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3194304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41"/>
          <p:cNvSpPr/>
          <p:nvPr/>
        </p:nvSpPr>
        <p:spPr>
          <a:xfrm>
            <a:off x="6949440" y="2828544"/>
            <a:ext cx="1828800" cy="67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Arial Black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72%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41"/>
          <p:cNvSpPr/>
          <p:nvPr/>
        </p:nvSpPr>
        <p:spPr>
          <a:xfrm>
            <a:off x="6949440" y="3499104"/>
            <a:ext cx="4511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Of Nigerian employers report tech skills shortfalls in new hires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41"/>
          <p:cNvSpPr/>
          <p:nvPr/>
        </p:nvSpPr>
        <p:spPr>
          <a:xfrm>
            <a:off x="5974080" y="4693920"/>
            <a:ext cx="5852160" cy="1682496"/>
          </a:xfrm>
          <a:prstGeom prst="rect">
            <a:avLst/>
          </a:prstGeom>
          <a:solidFill>
            <a:srgbClr val="1A2235"/>
          </a:solidFill>
          <a:ln cap="flat" cmpd="sng" w="12700">
            <a:solidFill>
              <a:srgbClr val="1A22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16200000" dist="38100">
              <a:srgbClr val="000000">
                <a:alpha val="1803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1"/>
          <p:cNvSpPr/>
          <p:nvPr/>
        </p:nvSpPr>
        <p:spPr>
          <a:xfrm>
            <a:off x="5974080" y="4693920"/>
            <a:ext cx="85344" cy="1682496"/>
          </a:xfrm>
          <a:prstGeom prst="rect">
            <a:avLst/>
          </a:prstGeom>
          <a:solidFill>
            <a:srgbClr val="1D6EE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1" name="Google Shape;251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7920" y="5205984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41"/>
          <p:cNvSpPr/>
          <p:nvPr/>
        </p:nvSpPr>
        <p:spPr>
          <a:xfrm>
            <a:off x="6949440" y="4840224"/>
            <a:ext cx="1828800" cy="67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Arial Black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&lt; 5%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1"/>
          <p:cNvSpPr/>
          <p:nvPr/>
        </p:nvSpPr>
        <p:spPr>
          <a:xfrm>
            <a:off x="6949440" y="5510784"/>
            <a:ext cx="4511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Graduates possess foundational coding or cybersecurity competency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41"/>
          <p:cNvSpPr/>
          <p:nvPr/>
        </p:nvSpPr>
        <p:spPr>
          <a:xfrm>
            <a:off x="426720" y="6217920"/>
            <a:ext cx="11338560" cy="426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SkillUp EdTech bridges the gap — from classroom to career-ready.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/>
          <p:nvPr/>
        </p:nvSpPr>
        <p:spPr>
          <a:xfrm>
            <a:off x="0" y="0"/>
            <a:ext cx="12192000" cy="1280160"/>
          </a:xfrm>
          <a:prstGeom prst="rect">
            <a:avLst/>
          </a:prstGeom>
          <a:solidFill>
            <a:srgbClr val="060C18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2"/>
          <p:cNvSpPr/>
          <p:nvPr/>
        </p:nvSpPr>
        <p:spPr>
          <a:xfrm>
            <a:off x="0" y="1280160"/>
            <a:ext cx="12192000" cy="60960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2"/>
          <p:cNvSpPr/>
          <p:nvPr/>
        </p:nvSpPr>
        <p:spPr>
          <a:xfrm>
            <a:off x="609600" y="268224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 Black"/>
              <a:buNone/>
            </a:pPr>
            <a:r>
              <a:rPr b="1" i="0" lang="en-US" sz="3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WHO WE SERVE</a:t>
            </a:r>
            <a:endParaRPr b="1" i="0" sz="35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42"/>
          <p:cNvSpPr/>
          <p:nvPr/>
        </p:nvSpPr>
        <p:spPr>
          <a:xfrm>
            <a:off x="609600" y="755904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Three integrated learner segments — one ecosystem.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42"/>
          <p:cNvSpPr/>
          <p:nvPr/>
        </p:nvSpPr>
        <p:spPr>
          <a:xfrm>
            <a:off x="365760" y="1524000"/>
            <a:ext cx="3779520" cy="4998720"/>
          </a:xfrm>
          <a:prstGeom prst="rect">
            <a:avLst/>
          </a:prstGeom>
          <a:solidFill>
            <a:srgbClr val="1A2235"/>
          </a:solidFill>
          <a:ln>
            <a:noFill/>
          </a:ln>
          <a:effectLst>
            <a:outerShdw blurRad="101600" rotWithShape="0" algn="bl" dir="16200000" dist="38100">
              <a:srgbClr val="000000">
                <a:alpha val="1803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42"/>
          <p:cNvSpPr/>
          <p:nvPr/>
        </p:nvSpPr>
        <p:spPr>
          <a:xfrm>
            <a:off x="365760" y="1524000"/>
            <a:ext cx="3779520" cy="85344"/>
          </a:xfrm>
          <a:prstGeom prst="rect">
            <a:avLst/>
          </a:prstGeom>
          <a:solidFill>
            <a:srgbClr val="00C2CB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2"/>
          <p:cNvSpPr/>
          <p:nvPr/>
        </p:nvSpPr>
        <p:spPr>
          <a:xfrm>
            <a:off x="1731264" y="1645920"/>
            <a:ext cx="914400" cy="9144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7" name="Google Shape;26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3184" y="178003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2"/>
          <p:cNvSpPr/>
          <p:nvPr/>
        </p:nvSpPr>
        <p:spPr>
          <a:xfrm>
            <a:off x="512064" y="2706624"/>
            <a:ext cx="3486912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AI SECONDARY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42"/>
          <p:cNvSpPr/>
          <p:nvPr/>
        </p:nvSpPr>
        <p:spPr>
          <a:xfrm>
            <a:off x="487680" y="3096768"/>
            <a:ext cx="353568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Secondary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School Students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42"/>
          <p:cNvSpPr/>
          <p:nvPr/>
        </p:nvSpPr>
        <p:spPr>
          <a:xfrm>
            <a:off x="487680" y="4023360"/>
            <a:ext cx="353568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Ages 11 – 18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42"/>
          <p:cNvSpPr/>
          <p:nvPr/>
        </p:nvSpPr>
        <p:spPr>
          <a:xfrm>
            <a:off x="548640" y="4450080"/>
            <a:ext cx="341376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Future-ready skills layered atop standard curricula. AI literacy, digital safety, and computational thinking embedded in the classroom.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42"/>
          <p:cNvSpPr/>
          <p:nvPr/>
        </p:nvSpPr>
        <p:spPr>
          <a:xfrm>
            <a:off x="512064" y="5827776"/>
            <a:ext cx="3486912" cy="51206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42"/>
          <p:cNvSpPr/>
          <p:nvPr/>
        </p:nvSpPr>
        <p:spPr>
          <a:xfrm>
            <a:off x="512064" y="5839968"/>
            <a:ext cx="3486912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30 schools by end of Year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42"/>
          <p:cNvSpPr/>
          <p:nvPr/>
        </p:nvSpPr>
        <p:spPr>
          <a:xfrm>
            <a:off x="4328160" y="1524000"/>
            <a:ext cx="3779520" cy="4998720"/>
          </a:xfrm>
          <a:prstGeom prst="rect">
            <a:avLst/>
          </a:prstGeom>
          <a:solidFill>
            <a:srgbClr val="1A2235"/>
          </a:solidFill>
          <a:ln>
            <a:noFill/>
          </a:ln>
          <a:effectLst>
            <a:outerShdw blurRad="101600" rotWithShape="0" algn="bl" dir="16200000" dist="38100">
              <a:srgbClr val="000000">
                <a:alpha val="1803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2"/>
          <p:cNvSpPr/>
          <p:nvPr/>
        </p:nvSpPr>
        <p:spPr>
          <a:xfrm>
            <a:off x="4328160" y="1524000"/>
            <a:ext cx="3779520" cy="85344"/>
          </a:xfrm>
          <a:prstGeom prst="rect">
            <a:avLst/>
          </a:prstGeom>
          <a:solidFill>
            <a:srgbClr val="1D6EE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42"/>
          <p:cNvSpPr/>
          <p:nvPr/>
        </p:nvSpPr>
        <p:spPr>
          <a:xfrm>
            <a:off x="5693664" y="1645920"/>
            <a:ext cx="914400" cy="9144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7" name="Google Shape;27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5584" y="178003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2"/>
          <p:cNvSpPr/>
          <p:nvPr/>
        </p:nvSpPr>
        <p:spPr>
          <a:xfrm>
            <a:off x="4474464" y="2706624"/>
            <a:ext cx="3486912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EE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D6EEA"/>
                </a:solidFill>
                <a:latin typeface="Calibri"/>
                <a:ea typeface="Calibri"/>
                <a:cs typeface="Calibri"/>
                <a:sym typeface="Calibri"/>
              </a:rPr>
              <a:t>FREE TRAINING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42"/>
          <p:cNvSpPr/>
          <p:nvPr/>
        </p:nvSpPr>
        <p:spPr>
          <a:xfrm>
            <a:off x="4450080" y="3096768"/>
            <a:ext cx="353568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Recent Graduates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&amp; Job Seekers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42"/>
          <p:cNvSpPr/>
          <p:nvPr/>
        </p:nvSpPr>
        <p:spPr>
          <a:xfrm>
            <a:off x="4450080" y="4023360"/>
            <a:ext cx="353568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Ages 18 – 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42"/>
          <p:cNvSpPr/>
          <p:nvPr/>
        </p:nvSpPr>
        <p:spPr>
          <a:xfrm>
            <a:off x="4511040" y="4450080"/>
            <a:ext cx="341376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Talent-screened cohorts trained in Cybersecurity, AI, Product Design, and Software Development. A ₦25K commitment model ensures serious learners.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42"/>
          <p:cNvSpPr/>
          <p:nvPr/>
        </p:nvSpPr>
        <p:spPr>
          <a:xfrm>
            <a:off x="4474464" y="5827776"/>
            <a:ext cx="3486912" cy="51206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2"/>
          <p:cNvSpPr/>
          <p:nvPr/>
        </p:nvSpPr>
        <p:spPr>
          <a:xfrm>
            <a:off x="4474464" y="5839968"/>
            <a:ext cx="3486912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6EE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6EEA"/>
                </a:solidFill>
                <a:latin typeface="Calibri"/>
                <a:ea typeface="Calibri"/>
                <a:cs typeface="Calibri"/>
                <a:sym typeface="Calibri"/>
              </a:rPr>
              <a:t>1,200+ trained experts/year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42"/>
          <p:cNvSpPr/>
          <p:nvPr/>
        </p:nvSpPr>
        <p:spPr>
          <a:xfrm>
            <a:off x="8290560" y="1524000"/>
            <a:ext cx="3779520" cy="4998720"/>
          </a:xfrm>
          <a:prstGeom prst="rect">
            <a:avLst/>
          </a:prstGeom>
          <a:solidFill>
            <a:srgbClr val="1A2235"/>
          </a:solidFill>
          <a:ln>
            <a:noFill/>
          </a:ln>
          <a:effectLst>
            <a:outerShdw blurRad="101600" rotWithShape="0" algn="bl" dir="16200000" dist="38100">
              <a:srgbClr val="000000">
                <a:alpha val="18039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2"/>
          <p:cNvSpPr/>
          <p:nvPr/>
        </p:nvSpPr>
        <p:spPr>
          <a:xfrm>
            <a:off x="8290560" y="1524000"/>
            <a:ext cx="3779520" cy="8534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2"/>
          <p:cNvSpPr/>
          <p:nvPr/>
        </p:nvSpPr>
        <p:spPr>
          <a:xfrm>
            <a:off x="9656064" y="1645920"/>
            <a:ext cx="914400" cy="914400"/>
          </a:xfrm>
          <a:prstGeom prst="ellipse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7" name="Google Shape;287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77984" y="1780032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2"/>
          <p:cNvSpPr/>
          <p:nvPr/>
        </p:nvSpPr>
        <p:spPr>
          <a:xfrm>
            <a:off x="8436864" y="2706624"/>
            <a:ext cx="3486912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ONLINE ACADEMY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2"/>
          <p:cNvSpPr/>
          <p:nvPr/>
        </p:nvSpPr>
        <p:spPr>
          <a:xfrm>
            <a:off x="8412480" y="3096768"/>
            <a:ext cx="353568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Working Adults &amp;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Self-Directed Learners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2"/>
          <p:cNvSpPr/>
          <p:nvPr/>
        </p:nvSpPr>
        <p:spPr>
          <a:xfrm>
            <a:off x="8412480" y="4023360"/>
            <a:ext cx="353568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Ages 22+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2"/>
          <p:cNvSpPr/>
          <p:nvPr/>
        </p:nvSpPr>
        <p:spPr>
          <a:xfrm>
            <a:off x="8473440" y="4450080"/>
            <a:ext cx="341376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Flexible, subscription-based LMS with monthly new certifications. Designed for career changers, upskilling professionals, and entrepreneurs.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2"/>
          <p:cNvSpPr/>
          <p:nvPr/>
        </p:nvSpPr>
        <p:spPr>
          <a:xfrm>
            <a:off x="8436864" y="5827776"/>
            <a:ext cx="3486912" cy="512064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42"/>
          <p:cNvSpPr/>
          <p:nvPr/>
        </p:nvSpPr>
        <p:spPr>
          <a:xfrm>
            <a:off x="8436864" y="5839968"/>
            <a:ext cx="3486912" cy="487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10,000 paid subscribers by Year-End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8" name="Google Shape;298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950" y="1388850"/>
            <a:ext cx="1860354" cy="24966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22942" y="1388850"/>
            <a:ext cx="1860354" cy="24966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1934" y="1388850"/>
            <a:ext cx="1860354" cy="24966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0925" y="1388850"/>
            <a:ext cx="1860354" cy="2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43"/>
          <p:cNvSpPr txBox="1"/>
          <p:nvPr/>
        </p:nvSpPr>
        <p:spPr>
          <a:xfrm>
            <a:off x="869542" y="2459861"/>
            <a:ext cx="1429200" cy="1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9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Advanced tech courses (Data, Cyber, AI for work, Design, Dev) with 25k commitment fee.</a:t>
            </a:r>
            <a:endParaRPr sz="1022"/>
          </a:p>
        </p:txBody>
      </p:sp>
      <p:sp>
        <p:nvSpPr>
          <p:cNvPr id="303" name="Google Shape;303;p43"/>
          <p:cNvSpPr txBox="1"/>
          <p:nvPr/>
        </p:nvSpPr>
        <p:spPr>
          <a:xfrm>
            <a:off x="2938534" y="2459861"/>
            <a:ext cx="14292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9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Monthly tech advocacy &amp; industry innovation sessions.</a:t>
            </a:r>
            <a:endParaRPr sz="1022"/>
          </a:p>
        </p:txBody>
      </p:sp>
      <p:sp>
        <p:nvSpPr>
          <p:cNvPr id="304" name="Google Shape;304;p43"/>
          <p:cNvSpPr txBox="1"/>
          <p:nvPr/>
        </p:nvSpPr>
        <p:spPr>
          <a:xfrm>
            <a:off x="4922145" y="2413524"/>
            <a:ext cx="1622400" cy="1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is a </a:t>
            </a:r>
            <a:r>
              <a:rPr lang="en-US" sz="109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special</a:t>
            </a:r>
            <a:r>
              <a:rPr lang="en-US" sz="109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physical </a:t>
            </a:r>
            <a:r>
              <a:rPr lang="en-US" sz="109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classes</a:t>
            </a:r>
            <a:r>
              <a:rPr lang="en-US" sz="109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Accountants and </a:t>
            </a:r>
            <a:r>
              <a:rPr lang="en-US" sz="109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Administrators</a:t>
            </a:r>
            <a:r>
              <a:rPr lang="en-US" sz="109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on </a:t>
            </a:r>
            <a:r>
              <a:rPr lang="en-US" sz="109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use</a:t>
            </a:r>
            <a:r>
              <a:rPr lang="en-US" sz="109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of Ai </a:t>
            </a:r>
            <a:endParaRPr sz="1022"/>
          </a:p>
        </p:txBody>
      </p:sp>
      <p:sp>
        <p:nvSpPr>
          <p:cNvPr id="305" name="Google Shape;305;p43"/>
          <p:cNvSpPr txBox="1"/>
          <p:nvPr/>
        </p:nvSpPr>
        <p:spPr>
          <a:xfrm>
            <a:off x="7076518" y="2413533"/>
            <a:ext cx="1429200" cy="11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9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Special training for children and undergraduates willing to upskill during the break</a:t>
            </a:r>
            <a:endParaRPr sz="1022"/>
          </a:p>
        </p:txBody>
      </p:sp>
      <p:pic>
        <p:nvPicPr>
          <p:cNvPr descr="image.png" id="306" name="Google Shape;306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9542" y="1632262"/>
            <a:ext cx="347730" cy="278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38534" y="1632262"/>
            <a:ext cx="208638" cy="278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07526" y="1632262"/>
            <a:ext cx="347730" cy="278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76518" y="1632262"/>
            <a:ext cx="347730" cy="27818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3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rPr>
              <a:t>The Strategic Workstreams</a:t>
            </a:r>
            <a:endParaRPr b="1">
              <a:solidFill>
                <a:schemeClr val="accen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11" name="Google Shape;311;p43"/>
          <p:cNvSpPr txBox="1"/>
          <p:nvPr/>
        </p:nvSpPr>
        <p:spPr>
          <a:xfrm>
            <a:off x="869542" y="2084311"/>
            <a:ext cx="1500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33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Free Training</a:t>
            </a:r>
            <a:endParaRPr sz="1022"/>
          </a:p>
        </p:txBody>
      </p:sp>
      <p:sp>
        <p:nvSpPr>
          <p:cNvPr id="312" name="Google Shape;312;p43"/>
          <p:cNvSpPr txBox="1"/>
          <p:nvPr/>
        </p:nvSpPr>
        <p:spPr>
          <a:xfrm>
            <a:off x="2938534" y="2084311"/>
            <a:ext cx="1500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33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Webinars</a:t>
            </a:r>
            <a:endParaRPr sz="1022"/>
          </a:p>
        </p:txBody>
      </p:sp>
      <p:sp>
        <p:nvSpPr>
          <p:cNvPr id="313" name="Google Shape;313;p43"/>
          <p:cNvSpPr txBox="1"/>
          <p:nvPr/>
        </p:nvSpPr>
        <p:spPr>
          <a:xfrm>
            <a:off x="4922150" y="2084300"/>
            <a:ext cx="17079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33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AI </a:t>
            </a:r>
            <a:r>
              <a:rPr b="1" lang="en-US" sz="1533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for Professionals</a:t>
            </a:r>
            <a:endParaRPr sz="1022"/>
          </a:p>
        </p:txBody>
      </p:sp>
      <p:sp>
        <p:nvSpPr>
          <p:cNvPr id="314" name="Google Shape;314;p43"/>
          <p:cNvSpPr txBox="1"/>
          <p:nvPr/>
        </p:nvSpPr>
        <p:spPr>
          <a:xfrm>
            <a:off x="7076526" y="2084300"/>
            <a:ext cx="1776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33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Summer Training</a:t>
            </a:r>
            <a:endParaRPr sz="1022"/>
          </a:p>
        </p:txBody>
      </p:sp>
      <p:pic>
        <p:nvPicPr>
          <p:cNvPr descr="image.png" id="315" name="Google Shape;31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86684" y="4148800"/>
            <a:ext cx="1860354" cy="24966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6" name="Google Shape;31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5676" y="4148800"/>
            <a:ext cx="1860354" cy="24966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7" name="Google Shape;31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24668" y="4148800"/>
            <a:ext cx="1860354" cy="2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3"/>
          <p:cNvSpPr txBox="1"/>
          <p:nvPr/>
        </p:nvSpPr>
        <p:spPr>
          <a:xfrm>
            <a:off x="7085888" y="5173474"/>
            <a:ext cx="16224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9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Embedding future-ready skills in classrooms across 10 - 30 schools.</a:t>
            </a:r>
            <a:endParaRPr sz="1022"/>
          </a:p>
        </p:txBody>
      </p:sp>
      <p:sp>
        <p:nvSpPr>
          <p:cNvPr id="319" name="Google Shape;319;p43"/>
          <p:cNvSpPr txBox="1"/>
          <p:nvPr/>
        </p:nvSpPr>
        <p:spPr>
          <a:xfrm>
            <a:off x="9240260" y="5173483"/>
            <a:ext cx="1429200" cy="9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9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commercial engine: scaling to 10,000 paid subscribers annually.</a:t>
            </a:r>
            <a:endParaRPr sz="1022"/>
          </a:p>
        </p:txBody>
      </p:sp>
      <p:pic>
        <p:nvPicPr>
          <p:cNvPr descr="image.png" id="320" name="Google Shape;320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02276" y="4392212"/>
            <a:ext cx="208638" cy="278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71268" y="4392212"/>
            <a:ext cx="347730" cy="278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2" name="Google Shape;322;p4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240260" y="4392212"/>
            <a:ext cx="347730" cy="27818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3"/>
          <p:cNvSpPr txBox="1"/>
          <p:nvPr/>
        </p:nvSpPr>
        <p:spPr>
          <a:xfrm>
            <a:off x="5050792" y="5064275"/>
            <a:ext cx="1622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33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In-</a:t>
            </a:r>
            <a:r>
              <a:rPr b="1" lang="en-US" sz="1933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b="1" lang="en-US" sz="1933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House</a:t>
            </a:r>
            <a:r>
              <a:rPr b="1" lang="en-US" sz="1933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Personal Training</a:t>
            </a:r>
            <a:endParaRPr sz="1422"/>
          </a:p>
        </p:txBody>
      </p:sp>
      <p:sp>
        <p:nvSpPr>
          <p:cNvPr id="324" name="Google Shape;324;p43"/>
          <p:cNvSpPr txBox="1"/>
          <p:nvPr/>
        </p:nvSpPr>
        <p:spPr>
          <a:xfrm>
            <a:off x="7171268" y="4844261"/>
            <a:ext cx="1500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33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AI Secondary</a:t>
            </a:r>
            <a:endParaRPr sz="1022"/>
          </a:p>
        </p:txBody>
      </p:sp>
      <p:sp>
        <p:nvSpPr>
          <p:cNvPr id="325" name="Google Shape;325;p43"/>
          <p:cNvSpPr txBox="1"/>
          <p:nvPr/>
        </p:nvSpPr>
        <p:spPr>
          <a:xfrm>
            <a:off x="9240260" y="4844261"/>
            <a:ext cx="15006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33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Online Academy</a:t>
            </a:r>
            <a:endParaRPr sz="1022"/>
          </a:p>
        </p:txBody>
      </p:sp>
      <p:sp>
        <p:nvSpPr>
          <p:cNvPr id="326" name="Google Shape;326;p43"/>
          <p:cNvSpPr/>
          <p:nvPr/>
        </p:nvSpPr>
        <p:spPr>
          <a:xfrm flipH="1">
            <a:off x="9037650" y="2084300"/>
            <a:ext cx="1980300" cy="821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ACTIVE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43"/>
          <p:cNvSpPr/>
          <p:nvPr/>
        </p:nvSpPr>
        <p:spPr>
          <a:xfrm>
            <a:off x="2126725" y="4844250"/>
            <a:ext cx="2241000" cy="821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Pending</a:t>
            </a:r>
            <a:endParaRPr b="1"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4"/>
          <p:cNvSpPr/>
          <p:nvPr/>
        </p:nvSpPr>
        <p:spPr>
          <a:xfrm>
            <a:off x="661492" y="1743671"/>
            <a:ext cx="1401167" cy="367903"/>
          </a:xfrm>
          <a:prstGeom prst="roundRect">
            <a:avLst>
              <a:gd fmla="val 17263" name="adj"/>
            </a:avLst>
          </a:prstGeom>
          <a:noFill/>
          <a:ln cap="flat" cmpd="sng" w="9525">
            <a:solidFill>
              <a:srgbClr val="2B0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44"/>
          <p:cNvSpPr/>
          <p:nvPr/>
        </p:nvSpPr>
        <p:spPr>
          <a:xfrm>
            <a:off x="781248" y="1806675"/>
            <a:ext cx="1771253" cy="241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0A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ARCHITECTURE</a:t>
            </a:r>
            <a:endParaRPr b="0" i="0" sz="1100" u="none" cap="none" strike="noStrike"/>
          </a:p>
        </p:txBody>
      </p:sp>
      <p:sp>
        <p:nvSpPr>
          <p:cNvPr id="335" name="Google Shape;335;p44"/>
          <p:cNvSpPr/>
          <p:nvPr/>
        </p:nvSpPr>
        <p:spPr>
          <a:xfrm>
            <a:off x="661492" y="2187179"/>
            <a:ext cx="8955584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Inter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Two-Engine System: Website + LMS</a:t>
            </a:r>
            <a:endParaRPr b="0" i="0" sz="3700" u="none" cap="none" strike="noStrike"/>
          </a:p>
        </p:txBody>
      </p:sp>
      <p:sp>
        <p:nvSpPr>
          <p:cNvPr id="336" name="Google Shape;336;p44"/>
          <p:cNvSpPr/>
          <p:nvPr/>
        </p:nvSpPr>
        <p:spPr>
          <a:xfrm>
            <a:off x="525363" y="3061295"/>
            <a:ext cx="5476180" cy="2053035"/>
          </a:xfrm>
          <a:prstGeom prst="roundRect">
            <a:avLst>
              <a:gd fmla="val 6629" name="adj"/>
            </a:avLst>
          </a:prstGeom>
          <a:solidFill>
            <a:srgbClr val="2B0A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4"/>
          <p:cNvSpPr/>
          <p:nvPr/>
        </p:nvSpPr>
        <p:spPr>
          <a:xfrm>
            <a:off x="714375" y="3250307"/>
            <a:ext cx="434994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Public Website — Front-End Hub</a:t>
            </a:r>
            <a:endParaRPr b="0" i="0" sz="1800" u="none" cap="none" strike="noStrike"/>
          </a:p>
        </p:txBody>
      </p:sp>
      <p:sp>
        <p:nvSpPr>
          <p:cNvPr id="338" name="Google Shape;338;p44"/>
          <p:cNvSpPr/>
          <p:nvPr/>
        </p:nvSpPr>
        <p:spPr>
          <a:xfrm>
            <a:off x="714375" y="3734593"/>
            <a:ext cx="5098157" cy="907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Your marketing engine, conversion funnel, and e-commerce storefront. Manages discovery, scheduling, pricing visibility, and payment checkouts.</a:t>
            </a:r>
            <a:endParaRPr b="0" i="0" sz="1500" u="none" cap="none" strike="noStrike"/>
          </a:p>
        </p:txBody>
      </p:sp>
      <p:sp>
        <p:nvSpPr>
          <p:cNvPr id="339" name="Google Shape;339;p44"/>
          <p:cNvSpPr/>
          <p:nvPr/>
        </p:nvSpPr>
        <p:spPr>
          <a:xfrm>
            <a:off x="6332935" y="3250307"/>
            <a:ext cx="4881761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LMS Portal — Secure Delivery Engine</a:t>
            </a:r>
            <a:endParaRPr b="0" i="0" sz="1800" u="none" cap="none" strike="noStrike"/>
          </a:p>
        </p:txBody>
      </p:sp>
      <p:sp>
        <p:nvSpPr>
          <p:cNvPr id="340" name="Google Shape;340;p44"/>
          <p:cNvSpPr/>
          <p:nvPr/>
        </p:nvSpPr>
        <p:spPr>
          <a:xfrm>
            <a:off x="6332935" y="3734593"/>
            <a:ext cx="5203924" cy="1209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Your fulfillment engine. Handles automated student provisioning, content hosting, performance tracking, live integrations, recurring subscription access, and certification.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5" name="Google Shape;34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07989"/>
            <a:ext cx="5229225" cy="4268984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5"/>
          <p:cNvSpPr txBox="1"/>
          <p:nvPr/>
        </p:nvSpPr>
        <p:spPr>
          <a:xfrm>
            <a:off x="923925" y="2160389"/>
            <a:ext cx="3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48" name="Google Shape;348;p45"/>
          <p:cNvSpPr txBox="1"/>
          <p:nvPr/>
        </p:nvSpPr>
        <p:spPr>
          <a:xfrm>
            <a:off x="962025" y="2160389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Acceptance Fee: 25,000 NGN (Commitment model).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9" name="Google Shape;349;p45"/>
          <p:cNvSpPr txBox="1"/>
          <p:nvPr/>
        </p:nvSpPr>
        <p:spPr>
          <a:xfrm>
            <a:off x="923925" y="2465189"/>
            <a:ext cx="3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50" name="Google Shape;350;p45"/>
          <p:cNvSpPr txBox="1"/>
          <p:nvPr/>
        </p:nvSpPr>
        <p:spPr>
          <a:xfrm>
            <a:off x="962025" y="2465189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Cycle Frequency: Every 4 months (3 cohorts/year).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1" name="Google Shape;351;p45"/>
          <p:cNvSpPr txBox="1"/>
          <p:nvPr/>
        </p:nvSpPr>
        <p:spPr>
          <a:xfrm>
            <a:off x="923925" y="2769989"/>
            <a:ext cx="3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52" name="Google Shape;352;p45"/>
          <p:cNvSpPr txBox="1"/>
          <p:nvPr/>
        </p:nvSpPr>
        <p:spPr>
          <a:xfrm>
            <a:off x="962025" y="2769989"/>
            <a:ext cx="48483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Selection: Talent-based screening for motivated graduates.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3" name="Google Shape;353;p45"/>
          <p:cNvSpPr txBox="1"/>
          <p:nvPr/>
        </p:nvSpPr>
        <p:spPr>
          <a:xfrm>
            <a:off x="923925" y="3379589"/>
            <a:ext cx="38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354" name="Google Shape;354;p45"/>
          <p:cNvSpPr txBox="1"/>
          <p:nvPr/>
        </p:nvSpPr>
        <p:spPr>
          <a:xfrm>
            <a:off x="962025" y="3379589"/>
            <a:ext cx="4848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Curriculum: High-impact vocational skills.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5" name="Google Shape;355;p45"/>
          <p:cNvSpPr txBox="1"/>
          <p:nvPr/>
        </p:nvSpPr>
        <p:spPr>
          <a:xfrm>
            <a:off x="675150" y="652275"/>
            <a:ext cx="84696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rPr>
              <a:t>Advanced Tech: Free Training Model</a:t>
            </a:r>
            <a:endParaRPr b="1">
              <a:solidFill>
                <a:schemeClr val="accen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</a:t>
            </a:r>
            <a:r>
              <a:rPr b="0" i="0" lang="en-US" sz="2400" u="none" cap="none" strike="noStrike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4-Month P</a:t>
            </a:r>
            <a:r>
              <a:rPr lang="en-US"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lan 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356" name="Google Shape;356;p45"/>
          <p:cNvSpPr txBox="1"/>
          <p:nvPr/>
        </p:nvSpPr>
        <p:spPr>
          <a:xfrm>
            <a:off x="923925" y="3718350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Capacity: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Min 100 learners per course.</a:t>
            </a:r>
            <a:endParaRPr/>
          </a:p>
        </p:txBody>
      </p:sp>
      <p:sp>
        <p:nvSpPr>
          <p:cNvPr id="357" name="Google Shape;357;p45"/>
          <p:cNvSpPr txBox="1"/>
          <p:nvPr/>
        </p:nvSpPr>
        <p:spPr>
          <a:xfrm>
            <a:off x="923925" y="4004100"/>
            <a:ext cx="485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Total Output: 1,</a:t>
            </a:r>
            <a:r>
              <a:rPr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r>
              <a:rPr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00+ trained experts/year.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image.png" id="358" name="Google Shape;358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933575"/>
            <a:ext cx="5305425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3" name="Google Shape;36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50" y="1233625"/>
            <a:ext cx="4814086" cy="16849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3220" y="1233625"/>
            <a:ext cx="4814086" cy="16849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250" y="3262420"/>
            <a:ext cx="4814086" cy="16849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6" name="Google Shape;366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3220" y="3262420"/>
            <a:ext cx="4814086" cy="168493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6"/>
          <p:cNvSpPr txBox="1"/>
          <p:nvPr/>
        </p:nvSpPr>
        <p:spPr>
          <a:xfrm>
            <a:off x="851745" y="1964335"/>
            <a:ext cx="42813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4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Focus on </a:t>
            </a:r>
            <a:r>
              <a:rPr lang="en-US" sz="1354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Forensic</a:t>
            </a:r>
            <a:r>
              <a:rPr b="0" i="0" lang="en-US" sz="1354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ethical hacking, and network security for the digital economy.</a:t>
            </a:r>
            <a:endParaRPr sz="1264"/>
          </a:p>
        </p:txBody>
      </p:sp>
      <p:sp>
        <p:nvSpPr>
          <p:cNvPr id="368" name="Google Shape;368;p46"/>
          <p:cNvSpPr txBox="1"/>
          <p:nvPr/>
        </p:nvSpPr>
        <p:spPr>
          <a:xfrm>
            <a:off x="6009715" y="1964335"/>
            <a:ext cx="4281300" cy="8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4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Advance, </a:t>
            </a:r>
            <a:r>
              <a:rPr lang="en-US" sz="1354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Business</a:t>
            </a:r>
            <a:r>
              <a:rPr lang="en-US" sz="1354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4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intelligence</a:t>
            </a:r>
            <a:r>
              <a:rPr lang="en-US" sz="1354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deployment, using </a:t>
            </a:r>
            <a:r>
              <a:rPr lang="en-US" sz="1354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several</a:t>
            </a:r>
            <a:r>
              <a:rPr lang="en-US" sz="1354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tools and crating solution </a:t>
            </a:r>
            <a:r>
              <a:rPr lang="en-US" sz="1354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around</a:t>
            </a:r>
            <a:r>
              <a:rPr lang="en-US" sz="1354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business </a:t>
            </a:r>
            <a:r>
              <a:rPr lang="en-US" sz="1354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cases</a:t>
            </a:r>
            <a:endParaRPr sz="1264"/>
          </a:p>
        </p:txBody>
      </p:sp>
      <p:sp>
        <p:nvSpPr>
          <p:cNvPr id="369" name="Google Shape;369;p46"/>
          <p:cNvSpPr txBox="1"/>
          <p:nvPr/>
        </p:nvSpPr>
        <p:spPr>
          <a:xfrm>
            <a:off x="851745" y="3993130"/>
            <a:ext cx="42813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4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UI/UX mastery, prototyping, and user-centric design frameworks.</a:t>
            </a:r>
            <a:endParaRPr sz="1264"/>
          </a:p>
        </p:txBody>
      </p:sp>
      <p:sp>
        <p:nvSpPr>
          <p:cNvPr id="370" name="Google Shape;370;p46"/>
          <p:cNvSpPr txBox="1"/>
          <p:nvPr/>
        </p:nvSpPr>
        <p:spPr>
          <a:xfrm>
            <a:off x="6009715" y="3993130"/>
            <a:ext cx="42813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4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Full-stack capabilities across web and mobile platforms.</a:t>
            </a:r>
            <a:endParaRPr sz="1264"/>
          </a:p>
        </p:txBody>
      </p:sp>
      <p:pic>
        <p:nvPicPr>
          <p:cNvPr descr="image.png" id="371" name="Google Shape;371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1745" y="1525909"/>
            <a:ext cx="240704" cy="24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09715" y="1525909"/>
            <a:ext cx="240704" cy="24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1745" y="3554704"/>
            <a:ext cx="240704" cy="2407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4" name="Google Shape;374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09715" y="3554704"/>
            <a:ext cx="300880" cy="240704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6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accent1"/>
                </a:solidFill>
                <a:latin typeface="Manrope"/>
                <a:ea typeface="Manrope"/>
                <a:cs typeface="Manrope"/>
                <a:sym typeface="Manrope"/>
              </a:rPr>
              <a:t>Training Core Curriculum</a:t>
            </a:r>
            <a:endParaRPr b="1">
              <a:solidFill>
                <a:schemeClr val="accen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376" name="Google Shape;376;p46"/>
          <p:cNvSpPr txBox="1"/>
          <p:nvPr/>
        </p:nvSpPr>
        <p:spPr>
          <a:xfrm>
            <a:off x="851745" y="1500119"/>
            <a:ext cx="44952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0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Cybersecurity</a:t>
            </a:r>
            <a:endParaRPr sz="1264"/>
          </a:p>
        </p:txBody>
      </p:sp>
      <p:sp>
        <p:nvSpPr>
          <p:cNvPr id="377" name="Google Shape;377;p46"/>
          <p:cNvSpPr txBox="1"/>
          <p:nvPr/>
        </p:nvSpPr>
        <p:spPr>
          <a:xfrm>
            <a:off x="6009715" y="1500119"/>
            <a:ext cx="44952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0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95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Data Analysis</a:t>
            </a:r>
            <a:endParaRPr sz="1264"/>
          </a:p>
        </p:txBody>
      </p:sp>
      <p:sp>
        <p:nvSpPr>
          <p:cNvPr id="378" name="Google Shape;378;p46"/>
          <p:cNvSpPr txBox="1"/>
          <p:nvPr/>
        </p:nvSpPr>
        <p:spPr>
          <a:xfrm>
            <a:off x="851745" y="3528914"/>
            <a:ext cx="44952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0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Product Design</a:t>
            </a:r>
            <a:endParaRPr sz="1264"/>
          </a:p>
        </p:txBody>
      </p:sp>
      <p:sp>
        <p:nvSpPr>
          <p:cNvPr id="379" name="Google Shape;379;p46"/>
          <p:cNvSpPr txBox="1"/>
          <p:nvPr/>
        </p:nvSpPr>
        <p:spPr>
          <a:xfrm>
            <a:off x="6009715" y="3528914"/>
            <a:ext cx="44952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09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9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Software Development</a:t>
            </a:r>
            <a:endParaRPr sz="1264"/>
          </a:p>
        </p:txBody>
      </p:sp>
      <p:pic>
        <p:nvPicPr>
          <p:cNvPr descr="image.png" id="380" name="Google Shape;380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8275" y="5213650"/>
            <a:ext cx="4814075" cy="123692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6"/>
          <p:cNvSpPr txBox="1"/>
          <p:nvPr/>
        </p:nvSpPr>
        <p:spPr>
          <a:xfrm>
            <a:off x="3234765" y="5822230"/>
            <a:ext cx="42813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4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How learners can maximize AI tools for business and workspace</a:t>
            </a:r>
            <a:endParaRPr sz="1264"/>
          </a:p>
        </p:txBody>
      </p:sp>
      <p:sp>
        <p:nvSpPr>
          <p:cNvPr id="382" name="Google Shape;382;p46"/>
          <p:cNvSpPr txBox="1"/>
          <p:nvPr/>
        </p:nvSpPr>
        <p:spPr>
          <a:xfrm>
            <a:off x="3020874" y="5385500"/>
            <a:ext cx="3990600" cy="2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09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95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AI For Work</a:t>
            </a:r>
            <a:endParaRPr sz="1264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7"/>
          <p:cNvSpPr/>
          <p:nvPr/>
        </p:nvSpPr>
        <p:spPr>
          <a:xfrm>
            <a:off x="1816397" y="349747"/>
            <a:ext cx="735211" cy="218579"/>
          </a:xfrm>
          <a:prstGeom prst="roundRect">
            <a:avLst>
              <a:gd fmla="val 19068" name="adj"/>
            </a:avLst>
          </a:prstGeom>
          <a:noFill/>
          <a:ln cap="flat" cmpd="sng" w="9525">
            <a:solidFill>
              <a:srgbClr val="2B0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7"/>
          <p:cNvSpPr/>
          <p:nvPr/>
        </p:nvSpPr>
        <p:spPr>
          <a:xfrm>
            <a:off x="1897161" y="393303"/>
            <a:ext cx="1183283" cy="131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B0AF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PRODUCT 3</a:t>
            </a:r>
            <a:endParaRPr b="0" i="0" sz="700" u="none" cap="none" strike="noStrike"/>
          </a:p>
        </p:txBody>
      </p:sp>
      <p:sp>
        <p:nvSpPr>
          <p:cNvPr id="390" name="Google Shape;390;p47"/>
          <p:cNvSpPr/>
          <p:nvPr/>
        </p:nvSpPr>
        <p:spPr>
          <a:xfrm>
            <a:off x="1816397" y="600869"/>
            <a:ext cx="5386189" cy="3876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Free Training — Blended Hybrid</a:t>
            </a:r>
            <a:endParaRPr b="0" i="0" sz="2400" u="none" cap="none" strike="noStrike"/>
          </a:p>
        </p:txBody>
      </p:sp>
      <p:sp>
        <p:nvSpPr>
          <p:cNvPr id="391" name="Google Shape;391;p47"/>
          <p:cNvSpPr/>
          <p:nvPr/>
        </p:nvSpPr>
        <p:spPr>
          <a:xfrm>
            <a:off x="1816397" y="1110556"/>
            <a:ext cx="8559205" cy="328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Format:</a:t>
            </a:r>
            <a:r>
              <a:rPr b="0" i="0" lang="en-US" sz="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Blended Hybrid · </a:t>
            </a:r>
            <a:r>
              <a:rPr b="1" i="0" lang="en-US" sz="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Commitment Fee:</a:t>
            </a:r>
            <a:r>
              <a:rPr b="0" i="0" lang="en-US" sz="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$25k · </a:t>
            </a:r>
            <a:r>
              <a:rPr b="1" i="0" lang="en-US" sz="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Objective:</a:t>
            </a:r>
            <a:r>
              <a:rPr b="0" i="0" lang="en-US" sz="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High engagement &amp; certification across 5 core tracks: Data, Cyber, AI for Work, Design, Dev.</a:t>
            </a:r>
            <a:endParaRPr b="0" i="0" sz="900" u="none" cap="none" strike="noStrike"/>
          </a:p>
        </p:txBody>
      </p:sp>
      <p:pic>
        <p:nvPicPr>
          <p:cNvPr descr="preencoded.png" id="392" name="Google Shape;392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9436" y="1530747"/>
            <a:ext cx="6613128" cy="4557316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47"/>
          <p:cNvSpPr/>
          <p:nvPr/>
        </p:nvSpPr>
        <p:spPr>
          <a:xfrm>
            <a:off x="2955097" y="4366471"/>
            <a:ext cx="1807171" cy="240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Register + $25k</a:t>
            </a:r>
            <a:endParaRPr b="0" i="0" sz="1500" u="none" cap="none" strike="noStrike"/>
          </a:p>
        </p:txBody>
      </p:sp>
      <p:sp>
        <p:nvSpPr>
          <p:cNvPr id="394" name="Google Shape;394;p47"/>
          <p:cNvSpPr/>
          <p:nvPr/>
        </p:nvSpPr>
        <p:spPr>
          <a:xfrm>
            <a:off x="4495064" y="2211988"/>
            <a:ext cx="1865881" cy="4814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Webhook Enrollment</a:t>
            </a:r>
            <a:endParaRPr b="0" i="0" sz="1500" u="none" cap="none" strike="noStrike"/>
          </a:p>
        </p:txBody>
      </p:sp>
      <p:sp>
        <p:nvSpPr>
          <p:cNvPr id="395" name="Google Shape;395;p47"/>
          <p:cNvSpPr/>
          <p:nvPr/>
        </p:nvSpPr>
        <p:spPr>
          <a:xfrm>
            <a:off x="5747633" y="4926957"/>
            <a:ext cx="1807171" cy="240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Weekly Drip + Live</a:t>
            </a:r>
            <a:endParaRPr b="0" i="0" sz="1500" u="none" cap="none" strike="noStrike"/>
          </a:p>
        </p:txBody>
      </p:sp>
      <p:sp>
        <p:nvSpPr>
          <p:cNvPr id="396" name="Google Shape;396;p47"/>
          <p:cNvSpPr/>
          <p:nvPr/>
        </p:nvSpPr>
        <p:spPr>
          <a:xfrm>
            <a:off x="7351793" y="2956495"/>
            <a:ext cx="1807172" cy="240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Project &amp; Cert</a:t>
            </a:r>
            <a:endParaRPr b="0" i="0" sz="1500" u="none" cap="none" strike="noStrike"/>
          </a:p>
        </p:txBody>
      </p:sp>
      <p:sp>
        <p:nvSpPr>
          <p:cNvPr id="397" name="Google Shape;397;p47"/>
          <p:cNvSpPr/>
          <p:nvPr/>
        </p:nvSpPr>
        <p:spPr>
          <a:xfrm>
            <a:off x="1816397" y="6179641"/>
            <a:ext cx="8559205" cy="328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The $25k commitment fee filters low-intent users. Upon payment, webhooks auto-provision LMS credentials, unlock weekly drip content, and trigger certification at full completion.</a:t>
            </a:r>
            <a:endParaRPr b="0" i="0" sz="9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8"/>
          <p:cNvSpPr txBox="1"/>
          <p:nvPr/>
        </p:nvSpPr>
        <p:spPr>
          <a:xfrm>
            <a:off x="1447800" y="2426047"/>
            <a:ext cx="4370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Web Front-End Store</a:t>
            </a:r>
            <a:endParaRPr/>
          </a:p>
        </p:txBody>
      </p:sp>
      <p:sp>
        <p:nvSpPr>
          <p:cNvPr id="403" name="Google Shape;403;p48"/>
          <p:cNvSpPr txBox="1"/>
          <p:nvPr/>
        </p:nvSpPr>
        <p:spPr>
          <a:xfrm>
            <a:off x="1104900" y="2854672"/>
            <a:ext cx="45054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High-demand tracks (Data, Cyber, AI for Work, Design, Dev) configured to acquire serious learners via financial filters.</a:t>
            </a:r>
            <a:endParaRPr/>
          </a:p>
        </p:txBody>
      </p:sp>
      <p:sp>
        <p:nvSpPr>
          <p:cNvPr id="404" name="Google Shape;404;p48"/>
          <p:cNvSpPr txBox="1"/>
          <p:nvPr/>
        </p:nvSpPr>
        <p:spPr>
          <a:xfrm>
            <a:off x="6896100" y="2426047"/>
            <a:ext cx="4400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LMS Automated Delivery</a:t>
            </a:r>
            <a:endParaRPr/>
          </a:p>
        </p:txBody>
      </p:sp>
      <p:sp>
        <p:nvSpPr>
          <p:cNvPr id="405" name="Google Shape;405;p48"/>
          <p:cNvSpPr txBox="1"/>
          <p:nvPr/>
        </p:nvSpPr>
        <p:spPr>
          <a:xfrm>
            <a:off x="6581775" y="2854672"/>
            <a:ext cx="45054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Once payment clears, our system engine automatically initiates programmatic learner access.</a:t>
            </a:r>
            <a:endParaRPr/>
          </a:p>
        </p:txBody>
      </p:sp>
      <p:sp>
        <p:nvSpPr>
          <p:cNvPr id="406" name="Google Shape;406;p48"/>
          <p:cNvSpPr txBox="1"/>
          <p:nvPr/>
        </p:nvSpPr>
        <p:spPr>
          <a:xfrm>
            <a:off x="1343025" y="3485108"/>
            <a:ext cx="4267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Mandatory checkout gateway setup for </a:t>
            </a:r>
            <a:r>
              <a:rPr b="0" i="0" lang="en-US" sz="11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₦25</a:t>
            </a:r>
            <a:r>
              <a:rPr lang="en-US" sz="1125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</a:t>
            </a:r>
            <a:r>
              <a:rPr b="0" i="0" lang="en-US" sz="11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commitment fee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407" name="Google Shape;407;p48"/>
          <p:cNvSpPr txBox="1"/>
          <p:nvPr/>
        </p:nvSpPr>
        <p:spPr>
          <a:xfrm>
            <a:off x="1343025" y="4056608"/>
            <a:ext cx="42672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Transparent publishing of core syllabus details directly on website storefront.</a:t>
            </a:r>
            <a:endParaRPr/>
          </a:p>
        </p:txBody>
      </p:sp>
      <p:sp>
        <p:nvSpPr>
          <p:cNvPr id="408" name="Google Shape;408;p48"/>
          <p:cNvSpPr txBox="1"/>
          <p:nvPr/>
        </p:nvSpPr>
        <p:spPr>
          <a:xfrm>
            <a:off x="1343025" y="4628108"/>
            <a:ext cx="4267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Dynamic enrollment caps built to regulate participant influx.</a:t>
            </a:r>
            <a:endParaRPr/>
          </a:p>
        </p:txBody>
      </p:sp>
      <p:sp>
        <p:nvSpPr>
          <p:cNvPr id="409" name="Google Shape;409;p48"/>
          <p:cNvSpPr txBox="1"/>
          <p:nvPr/>
        </p:nvSpPr>
        <p:spPr>
          <a:xfrm>
            <a:off x="6819900" y="3485108"/>
            <a:ext cx="42672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Automated Credentialing: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Instantly sends LMS credentials and course access parameters.</a:t>
            </a:r>
            <a:endParaRPr/>
          </a:p>
        </p:txBody>
      </p:sp>
      <p:sp>
        <p:nvSpPr>
          <p:cNvPr id="410" name="Google Shape;410;p48"/>
          <p:cNvSpPr txBox="1"/>
          <p:nvPr/>
        </p:nvSpPr>
        <p:spPr>
          <a:xfrm>
            <a:off x="6819900" y="4056608"/>
            <a:ext cx="42672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Hybrid Interface: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Host dripped content lectures alongside one scheduled live API touchpoint.</a:t>
            </a:r>
            <a:endParaRPr/>
          </a:p>
        </p:txBody>
      </p:sp>
      <p:sp>
        <p:nvSpPr>
          <p:cNvPr id="411" name="Google Shape;411;p48"/>
          <p:cNvSpPr txBox="1"/>
          <p:nvPr/>
        </p:nvSpPr>
        <p:spPr>
          <a:xfrm>
            <a:off x="6819900" y="4628108"/>
            <a:ext cx="42672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Automation Output:</a:t>
            </a: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Autorelease certifications upon 100% video completion &amp; pass grades.</a:t>
            </a:r>
            <a:endParaRPr/>
          </a:p>
        </p:txBody>
      </p:sp>
      <p:sp>
        <p:nvSpPr>
          <p:cNvPr id="412" name="Google Shape;412;p48"/>
          <p:cNvSpPr txBox="1"/>
          <p:nvPr/>
        </p:nvSpPr>
        <p:spPr>
          <a:xfrm>
            <a:off x="1104900" y="3485108"/>
            <a:ext cx="123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/>
          </a:p>
        </p:txBody>
      </p:sp>
      <p:sp>
        <p:nvSpPr>
          <p:cNvPr id="413" name="Google Shape;413;p48"/>
          <p:cNvSpPr txBox="1"/>
          <p:nvPr/>
        </p:nvSpPr>
        <p:spPr>
          <a:xfrm>
            <a:off x="1104900" y="4056608"/>
            <a:ext cx="123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/>
          </a:p>
        </p:txBody>
      </p:sp>
      <p:sp>
        <p:nvSpPr>
          <p:cNvPr id="414" name="Google Shape;414;p48"/>
          <p:cNvSpPr txBox="1"/>
          <p:nvPr/>
        </p:nvSpPr>
        <p:spPr>
          <a:xfrm>
            <a:off x="1104900" y="4628108"/>
            <a:ext cx="123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/>
          </a:p>
        </p:txBody>
      </p:sp>
      <p:sp>
        <p:nvSpPr>
          <p:cNvPr id="415" name="Google Shape;415;p48"/>
          <p:cNvSpPr txBox="1"/>
          <p:nvPr/>
        </p:nvSpPr>
        <p:spPr>
          <a:xfrm>
            <a:off x="6581775" y="3485108"/>
            <a:ext cx="123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/>
          </a:p>
        </p:txBody>
      </p:sp>
      <p:sp>
        <p:nvSpPr>
          <p:cNvPr id="416" name="Google Shape;416;p48"/>
          <p:cNvSpPr txBox="1"/>
          <p:nvPr/>
        </p:nvSpPr>
        <p:spPr>
          <a:xfrm>
            <a:off x="6581775" y="4056608"/>
            <a:ext cx="123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/>
          </a:p>
        </p:txBody>
      </p:sp>
      <p:sp>
        <p:nvSpPr>
          <p:cNvPr id="417" name="Google Shape;417;p48"/>
          <p:cNvSpPr txBox="1"/>
          <p:nvPr/>
        </p:nvSpPr>
        <p:spPr>
          <a:xfrm>
            <a:off x="6581775" y="4628108"/>
            <a:ext cx="123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EA5E9"/>
                </a:solidFill>
                <a:latin typeface="Inter"/>
                <a:ea typeface="Inter"/>
                <a:cs typeface="Inter"/>
                <a:sym typeface="Inter"/>
              </a:rPr>
              <a:t>➔</a:t>
            </a:r>
            <a:endParaRPr/>
          </a:p>
        </p:txBody>
      </p:sp>
      <p:sp>
        <p:nvSpPr>
          <p:cNvPr id="418" name="Google Shape;418;p48"/>
          <p:cNvSpPr txBox="1"/>
          <p:nvPr/>
        </p:nvSpPr>
        <p:spPr>
          <a:xfrm>
            <a:off x="904875" y="571500"/>
            <a:ext cx="1105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Free Blended Core Funnel</a:t>
            </a:r>
            <a:endParaRPr/>
          </a:p>
        </p:txBody>
      </p:sp>
      <p:sp>
        <p:nvSpPr>
          <p:cNvPr id="419" name="Google Shape;419;p48"/>
          <p:cNvSpPr/>
          <p:nvPr/>
        </p:nvSpPr>
        <p:spPr>
          <a:xfrm>
            <a:off x="762000" y="571500"/>
            <a:ext cx="57300" cy="43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9"/>
          <p:cNvSpPr/>
          <p:nvPr/>
        </p:nvSpPr>
        <p:spPr>
          <a:xfrm>
            <a:off x="661492" y="1356221"/>
            <a:ext cx="1380529" cy="367903"/>
          </a:xfrm>
          <a:prstGeom prst="roundRect">
            <a:avLst>
              <a:gd fmla="val 17263" name="adj"/>
            </a:avLst>
          </a:prstGeom>
          <a:noFill/>
          <a:ln cap="flat" cmpd="sng" w="9525">
            <a:solidFill>
              <a:srgbClr val="2B0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9"/>
          <p:cNvSpPr/>
          <p:nvPr/>
        </p:nvSpPr>
        <p:spPr>
          <a:xfrm>
            <a:off x="781248" y="1419225"/>
            <a:ext cx="1750616" cy="241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0A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PRODUCTS 4–5</a:t>
            </a:r>
            <a:endParaRPr b="0" i="0" sz="1100" u="none" cap="none" strike="noStrike"/>
          </a:p>
        </p:txBody>
      </p:sp>
      <p:sp>
        <p:nvSpPr>
          <p:cNvPr id="427" name="Google Shape;427;p49"/>
          <p:cNvSpPr/>
          <p:nvPr/>
        </p:nvSpPr>
        <p:spPr>
          <a:xfrm>
            <a:off x="661492" y="1799729"/>
            <a:ext cx="8052792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Inter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Webinars &amp; B2B School Program</a:t>
            </a:r>
            <a:endParaRPr b="0" i="0" sz="3700" u="none" cap="none" strike="noStrike"/>
          </a:p>
        </p:txBody>
      </p:sp>
      <p:sp>
        <p:nvSpPr>
          <p:cNvPr id="428" name="Google Shape;428;p49"/>
          <p:cNvSpPr/>
          <p:nvPr/>
        </p:nvSpPr>
        <p:spPr>
          <a:xfrm>
            <a:off x="661492" y="2862857"/>
            <a:ext cx="297229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Monthly Webinars</a:t>
            </a:r>
            <a:endParaRPr b="0" i="0" sz="1800" u="none" cap="none" strike="noStrike"/>
          </a:p>
        </p:txBody>
      </p:sp>
      <p:sp>
        <p:nvSpPr>
          <p:cNvPr id="429" name="Google Shape;429;p49"/>
          <p:cNvSpPr/>
          <p:nvPr/>
        </p:nvSpPr>
        <p:spPr>
          <a:xfrm>
            <a:off x="661492" y="3347144"/>
            <a:ext cx="5203924" cy="1984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Format:</a:t>
            </a: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Live Virtual → On-Demand · </a:t>
            </a:r>
            <a:r>
              <a:rPr b="1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Objective:</a:t>
            </a: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Brand awareness &amp; lead generation</a:t>
            </a:r>
            <a:endParaRPr b="0" i="0" sz="15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130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Events section with speaker profiles and countdown timers. Lead-capture registration feeds into LMS — recorded sessions archived within 24 hours to convert visitors into free LMS users.</a:t>
            </a:r>
            <a:endParaRPr b="0" i="0" sz="1500" u="none" cap="none" strike="noStrike"/>
          </a:p>
        </p:txBody>
      </p:sp>
      <p:sp>
        <p:nvSpPr>
          <p:cNvPr id="430" name="Google Shape;430;p49"/>
          <p:cNvSpPr/>
          <p:nvPr/>
        </p:nvSpPr>
        <p:spPr>
          <a:xfrm>
            <a:off x="6332935" y="2862857"/>
            <a:ext cx="486042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AI Secondary — B2B School Program</a:t>
            </a:r>
            <a:endParaRPr b="0" i="0" sz="1800" u="none" cap="none" strike="noStrike"/>
          </a:p>
        </p:txBody>
      </p:sp>
      <p:sp>
        <p:nvSpPr>
          <p:cNvPr id="431" name="Google Shape;431;p49"/>
          <p:cNvSpPr/>
          <p:nvPr/>
        </p:nvSpPr>
        <p:spPr>
          <a:xfrm>
            <a:off x="6332935" y="3347144"/>
            <a:ext cx="5203924" cy="19845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Format:</a:t>
            </a: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In-person + digital resources · </a:t>
            </a:r>
            <a:r>
              <a:rPr b="1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Target:</a:t>
            </a: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10–30 schools</a:t>
            </a:r>
            <a:endParaRPr b="0" i="0" sz="15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130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B2B landing page for school proprietors and PTA boards. Onboarding form captures school data; LMS issues bulk student/teacher credentials and hosts supplemental coding guides and teacher kits.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image.png" id="436" name="Google Shape;436;p50"/>
          <p:cNvSpPr/>
          <p:nvPr/>
        </p:nvSpPr>
        <p:spPr>
          <a:xfrm>
            <a:off x="1057275" y="2705430"/>
            <a:ext cx="660517" cy="660517"/>
          </a:xfrm>
          <a:prstGeom prst="rect">
            <a:avLst/>
          </a:prstGeom>
          <a:noFill/>
          <a:ln>
            <a:noFill/>
          </a:ln>
        </p:spPr>
      </p:sp>
      <p:sp>
        <p:nvSpPr>
          <p:cNvPr id="437" name="Google Shape;437;p50"/>
          <p:cNvSpPr txBox="1"/>
          <p:nvPr/>
        </p:nvSpPr>
        <p:spPr>
          <a:xfrm>
            <a:off x="1057275" y="3548860"/>
            <a:ext cx="3108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Promote &amp; Capture</a:t>
            </a:r>
            <a:endParaRPr sz="1494">
              <a:solidFill>
                <a:schemeClr val="lt1"/>
              </a:solidFill>
            </a:endParaRPr>
          </a:p>
        </p:txBody>
      </p:sp>
      <p:sp>
        <p:nvSpPr>
          <p:cNvPr id="438" name="Google Shape;438;p50"/>
          <p:cNvSpPr txBox="1"/>
          <p:nvPr/>
        </p:nvSpPr>
        <p:spPr>
          <a:xfrm>
            <a:off x="1057275" y="3924847"/>
            <a:ext cx="29604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Public website features upcoming schedules, countdown timers, speaker portfolios, and quick registration forms to drive high-intent leads into the funnel.</a:t>
            </a:r>
            <a:endParaRPr sz="1494">
              <a:solidFill>
                <a:schemeClr val="lt1"/>
              </a:solidFill>
            </a:endParaRPr>
          </a:p>
        </p:txBody>
      </p:sp>
      <p:sp>
        <p:nvSpPr>
          <p:cNvPr descr="image.png" id="439" name="Google Shape;439;p50"/>
          <p:cNvSpPr/>
          <p:nvPr/>
        </p:nvSpPr>
        <p:spPr>
          <a:xfrm>
            <a:off x="4952579" y="2705430"/>
            <a:ext cx="660517" cy="660517"/>
          </a:xfrm>
          <a:prstGeom prst="rect">
            <a:avLst/>
          </a:prstGeom>
          <a:noFill/>
          <a:ln>
            <a:noFill/>
          </a:ln>
        </p:spPr>
      </p:sp>
      <p:sp>
        <p:nvSpPr>
          <p:cNvPr id="440" name="Google Shape;440;p50"/>
          <p:cNvSpPr txBox="1"/>
          <p:nvPr/>
        </p:nvSpPr>
        <p:spPr>
          <a:xfrm>
            <a:off x="4952579" y="3548860"/>
            <a:ext cx="3108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Deliver Live</a:t>
            </a:r>
            <a:endParaRPr sz="1494">
              <a:solidFill>
                <a:schemeClr val="lt1"/>
              </a:solidFill>
            </a:endParaRPr>
          </a:p>
        </p:txBody>
      </p:sp>
      <p:sp>
        <p:nvSpPr>
          <p:cNvPr id="441" name="Google Shape;441;p50"/>
          <p:cNvSpPr txBox="1"/>
          <p:nvPr/>
        </p:nvSpPr>
        <p:spPr>
          <a:xfrm>
            <a:off x="4952579" y="3924847"/>
            <a:ext cx="29604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Broadcast monthly sessions live using Zoom or YouTube integrations. Maintain highly interactive discussion forums to prompt organic platform conversions.</a:t>
            </a:r>
            <a:endParaRPr sz="1494">
              <a:solidFill>
                <a:schemeClr val="lt1"/>
              </a:solidFill>
            </a:endParaRPr>
          </a:p>
        </p:txBody>
      </p:sp>
      <p:sp>
        <p:nvSpPr>
          <p:cNvPr descr="image.png" id="442" name="Google Shape;442;p50"/>
          <p:cNvSpPr/>
          <p:nvPr/>
        </p:nvSpPr>
        <p:spPr>
          <a:xfrm>
            <a:off x="8847884" y="2705430"/>
            <a:ext cx="660517" cy="660517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0"/>
          <p:cNvSpPr txBox="1"/>
          <p:nvPr/>
        </p:nvSpPr>
        <p:spPr>
          <a:xfrm>
            <a:off x="8847884" y="3548860"/>
            <a:ext cx="3108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Archive &amp; Nurture</a:t>
            </a:r>
            <a:endParaRPr sz="1494">
              <a:solidFill>
                <a:schemeClr val="lt1"/>
              </a:solidFill>
            </a:endParaRPr>
          </a:p>
        </p:txBody>
      </p:sp>
      <p:sp>
        <p:nvSpPr>
          <p:cNvPr id="444" name="Google Shape;444;p50"/>
          <p:cNvSpPr txBox="1"/>
          <p:nvPr/>
        </p:nvSpPr>
        <p:spPr>
          <a:xfrm>
            <a:off x="8847884" y="3924847"/>
            <a:ext cx="29604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Within 24 hours of ending, edit and upload the webinar record into the LMS "Webinar Vault." Unlocks on-demand viewing upon signing up for a free student profile.</a:t>
            </a:r>
            <a:endParaRPr sz="1494">
              <a:solidFill>
                <a:schemeClr val="lt1"/>
              </a:solidFill>
            </a:endParaRPr>
          </a:p>
        </p:txBody>
      </p:sp>
      <p:sp>
        <p:nvSpPr>
          <p:cNvPr descr="image.png" id="445" name="Google Shape;445;p50"/>
          <p:cNvSpPr/>
          <p:nvPr/>
        </p:nvSpPr>
        <p:spPr>
          <a:xfrm>
            <a:off x="1204621" y="2852777"/>
            <a:ext cx="365825" cy="365825"/>
          </a:xfrm>
          <a:prstGeom prst="rect">
            <a:avLst/>
          </a:prstGeom>
          <a:noFill/>
          <a:ln>
            <a:noFill/>
          </a:ln>
        </p:spPr>
      </p:sp>
      <p:sp>
        <p:nvSpPr>
          <p:cNvPr descr="image.png" id="446" name="Google Shape;446;p50"/>
          <p:cNvSpPr/>
          <p:nvPr/>
        </p:nvSpPr>
        <p:spPr>
          <a:xfrm>
            <a:off x="5074521" y="2852777"/>
            <a:ext cx="416634" cy="365825"/>
          </a:xfrm>
          <a:prstGeom prst="rect">
            <a:avLst/>
          </a:prstGeom>
          <a:noFill/>
          <a:ln>
            <a:noFill/>
          </a:ln>
        </p:spPr>
      </p:sp>
      <p:sp>
        <p:nvSpPr>
          <p:cNvPr descr="image.png" id="447" name="Google Shape;447;p50"/>
          <p:cNvSpPr/>
          <p:nvPr/>
        </p:nvSpPr>
        <p:spPr>
          <a:xfrm>
            <a:off x="8969825" y="2852777"/>
            <a:ext cx="416634" cy="365825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50"/>
          <p:cNvSpPr txBox="1"/>
          <p:nvPr/>
        </p:nvSpPr>
        <p:spPr>
          <a:xfrm>
            <a:off x="904875" y="571500"/>
            <a:ext cx="1105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chemeClr val="dk2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Monthly Webinars Process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49" name="Google Shape;449;p50"/>
          <p:cNvSpPr/>
          <p:nvPr/>
        </p:nvSpPr>
        <p:spPr>
          <a:xfrm>
            <a:off x="762000" y="571500"/>
            <a:ext cx="57300" cy="43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51"/>
          <p:cNvSpPr/>
          <p:nvPr/>
        </p:nvSpPr>
        <p:spPr>
          <a:xfrm>
            <a:off x="661492" y="972454"/>
            <a:ext cx="80529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Inter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Webinars </a:t>
            </a:r>
            <a:endParaRPr b="0" i="0" sz="3700" u="none" cap="none" strike="noStrike"/>
          </a:p>
        </p:txBody>
      </p:sp>
      <p:sp>
        <p:nvSpPr>
          <p:cNvPr id="456" name="Google Shape;456;p51"/>
          <p:cNvSpPr/>
          <p:nvPr/>
        </p:nvSpPr>
        <p:spPr>
          <a:xfrm>
            <a:off x="541600" y="1975625"/>
            <a:ext cx="44676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Website Implementation Requirements </a:t>
            </a:r>
            <a:endParaRPr b="1" i="0" sz="18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7" name="Google Shape;457;p51"/>
          <p:cNvSpPr/>
          <p:nvPr/>
        </p:nvSpPr>
        <p:spPr>
          <a:xfrm>
            <a:off x="541600" y="2459926"/>
            <a:ext cx="5203800" cy="2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</a:t>
            </a:r>
            <a:r>
              <a:rPr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ebinars dedicated page (information &amp; past sessions)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Upcoming events calendar with registration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Past webinar recordings (embedded)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Speaker spotlights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</a:pPr>
            <a:r>
              <a:rPr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Clear CTA: “Watch Live” or “Join Next Session”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30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t/>
            </a:r>
            <a:endParaRPr b="1"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8" name="Google Shape;458;p51"/>
          <p:cNvSpPr/>
          <p:nvPr/>
        </p:nvSpPr>
        <p:spPr>
          <a:xfrm>
            <a:off x="6213035" y="1975632"/>
            <a:ext cx="48603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Process for Implementation</a:t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9" name="Google Shape;459;p51"/>
          <p:cNvSpPr/>
          <p:nvPr/>
        </p:nvSpPr>
        <p:spPr>
          <a:xfrm>
            <a:off x="6213035" y="2459919"/>
            <a:ext cx="5203800" cy="198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AutoNum type="arabicPeriod"/>
            </a:pPr>
            <a:r>
              <a:rPr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Planning — Monthly topic selection + speaker outreach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AutoNum type="arabicPeriod"/>
            </a:pPr>
            <a:r>
              <a:rPr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Promotion — Website, socials, email lists, school partners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AutoNum type="arabicPeriod"/>
            </a:pPr>
            <a:r>
              <a:rPr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Delivery — Live streaming (YouTube/Zoom integration)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AutoNum type="arabicPeriod"/>
            </a:pPr>
            <a:r>
              <a:rPr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Post-Event — Recording uploaded to website + added as on-demand course in LMS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AutoNum type="arabicPeriod"/>
            </a:pPr>
            <a:r>
              <a:rPr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Follow-up — Automated nurture sequence leading to Free Training or Academy</a:t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30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t/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4" name="Google Shape;46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537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5" name="Google Shape;465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343300"/>
            <a:ext cx="2614612" cy="138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6" name="Google Shape;466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6137" y="1343300"/>
            <a:ext cx="2614612" cy="138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7" name="Google Shape;467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1" y="1343300"/>
            <a:ext cx="2614612" cy="138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8" name="Google Shape;468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996363" y="1343300"/>
            <a:ext cx="2614612" cy="1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2"/>
          <p:cNvSpPr txBox="1"/>
          <p:nvPr/>
        </p:nvSpPr>
        <p:spPr>
          <a:xfrm>
            <a:off x="771525" y="581025"/>
            <a:ext cx="1138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PROPOSED TOPICS</a:t>
            </a:r>
            <a:endParaRPr/>
          </a:p>
        </p:txBody>
      </p:sp>
      <p:sp>
        <p:nvSpPr>
          <p:cNvPr id="470" name="Google Shape;470;p52"/>
          <p:cNvSpPr/>
          <p:nvPr/>
        </p:nvSpPr>
        <p:spPr>
          <a:xfrm>
            <a:off x="581025" y="581025"/>
            <a:ext cx="47700" cy="419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52"/>
          <p:cNvSpPr txBox="1"/>
          <p:nvPr/>
        </p:nvSpPr>
        <p:spPr>
          <a:xfrm>
            <a:off x="712300" y="1407750"/>
            <a:ext cx="2428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Projects, Mentorship &amp; Proof: Why Some Tech Learners Get Hired Faster</a:t>
            </a:r>
            <a:endParaRPr sz="1200"/>
          </a:p>
        </p:txBody>
      </p:sp>
      <p:sp>
        <p:nvSpPr>
          <p:cNvPr id="472" name="Google Shape;472;p52"/>
          <p:cNvSpPr txBox="1"/>
          <p:nvPr/>
        </p:nvSpPr>
        <p:spPr>
          <a:xfrm>
            <a:off x="644250" y="2042807"/>
            <a:ext cx="251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Uncovers what separates job-ready tech learners from the rest: real projects, the right mentors, and a portfolio that proves your skills.</a:t>
            </a:r>
            <a:endParaRPr sz="1000"/>
          </a:p>
        </p:txBody>
      </p:sp>
      <p:sp>
        <p:nvSpPr>
          <p:cNvPr id="473" name="Google Shape;473;p52"/>
          <p:cNvSpPr txBox="1"/>
          <p:nvPr/>
        </p:nvSpPr>
        <p:spPr>
          <a:xfrm>
            <a:off x="3624275" y="1638759"/>
            <a:ext cx="224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AF9F5"/>
                </a:solidFill>
                <a:highlight>
                  <a:srgbClr val="30302E"/>
                </a:highlight>
                <a:latin typeface="Montserrat SemiBold"/>
                <a:ea typeface="Montserrat SemiBold"/>
                <a:cs typeface="Montserrat SemiBold"/>
                <a:sym typeface="Montserrat SemiBold"/>
              </a:rPr>
              <a:t>Remote Work &amp; the Global Tech Market</a:t>
            </a:r>
            <a:r>
              <a:rPr lang="en-US" sz="1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1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74" name="Google Shape;474;p52"/>
          <p:cNvSpPr txBox="1"/>
          <p:nvPr/>
        </p:nvSpPr>
        <p:spPr>
          <a:xfrm>
            <a:off x="3552650" y="2154857"/>
            <a:ext cx="251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Learn how African tech talent can access international remote opportunities and compete in the global digital economy</a:t>
            </a:r>
            <a:r>
              <a:rPr lang="en-US" sz="12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500">
              <a:solidFill>
                <a:srgbClr val="94A3B8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5" name="Google Shape;475;p52"/>
          <p:cNvSpPr txBox="1"/>
          <p:nvPr/>
        </p:nvSpPr>
        <p:spPr>
          <a:xfrm>
            <a:off x="6345975" y="1529500"/>
            <a:ext cx="2428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Tech Community Power: Navigating the Ecosystem for Fast Growth</a:t>
            </a:r>
            <a:endParaRPr sz="1000"/>
          </a:p>
        </p:txBody>
      </p:sp>
      <p:sp>
        <p:nvSpPr>
          <p:cNvPr id="476" name="Google Shape;476;p52"/>
          <p:cNvSpPr txBox="1"/>
          <p:nvPr/>
        </p:nvSpPr>
        <p:spPr>
          <a:xfrm>
            <a:off x="6429376" y="1924200"/>
            <a:ext cx="224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Understand how joining local and global tech communities can unlock hidden job markets, mentorship, and invaluable peer support.</a:t>
            </a:r>
            <a:endParaRPr sz="1000"/>
          </a:p>
        </p:txBody>
      </p:sp>
      <p:sp>
        <p:nvSpPr>
          <p:cNvPr id="477" name="Google Shape;477;p52"/>
          <p:cNvSpPr txBox="1"/>
          <p:nvPr/>
        </p:nvSpPr>
        <p:spPr>
          <a:xfrm>
            <a:off x="9103188" y="1453952"/>
            <a:ext cx="224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Founders Panel: Stories, Struggles &amp; Breakthroughs in Tech</a:t>
            </a:r>
            <a:endParaRPr sz="1200"/>
          </a:p>
        </p:txBody>
      </p:sp>
      <p:sp>
        <p:nvSpPr>
          <p:cNvPr id="478" name="Google Shape;478;p52"/>
          <p:cNvSpPr txBox="1"/>
          <p:nvPr/>
        </p:nvSpPr>
        <p:spPr>
          <a:xfrm>
            <a:off x="9051500" y="2109575"/>
            <a:ext cx="2428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Real founders share honest lessons on building tech ventures, from first idea to surviving early-stage challenges </a:t>
            </a:r>
            <a:endParaRPr sz="1000"/>
          </a:p>
        </p:txBody>
      </p:sp>
      <p:pic>
        <p:nvPicPr>
          <p:cNvPr descr="image.png" id="479" name="Google Shape;479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575" y="3079175"/>
            <a:ext cx="2614612" cy="138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0" name="Google Shape;480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5687" y="3079175"/>
            <a:ext cx="2614612" cy="138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1" name="Google Shape;481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0801" y="3079175"/>
            <a:ext cx="2614612" cy="138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82" name="Google Shape;482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95913" y="3079175"/>
            <a:ext cx="2614612" cy="1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52"/>
          <p:cNvSpPr txBox="1"/>
          <p:nvPr/>
        </p:nvSpPr>
        <p:spPr>
          <a:xfrm>
            <a:off x="765675" y="3220400"/>
            <a:ext cx="242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Cloud &amp; DevOps: The Engine Behind Modern Tech Products</a:t>
            </a:r>
            <a:endParaRPr sz="1200"/>
          </a:p>
        </p:txBody>
      </p:sp>
      <p:sp>
        <p:nvSpPr>
          <p:cNvPr id="484" name="Google Shape;484;p52"/>
          <p:cNvSpPr txBox="1"/>
          <p:nvPr/>
        </p:nvSpPr>
        <p:spPr>
          <a:xfrm>
            <a:off x="835275" y="3719775"/>
            <a:ext cx="242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Demystifies cloud computing and DevOps practices, showing beginners how modern software is built, deployed, and scaled</a:t>
            </a:r>
            <a:endParaRPr sz="1000"/>
          </a:p>
        </p:txBody>
      </p:sp>
      <p:sp>
        <p:nvSpPr>
          <p:cNvPr id="485" name="Google Shape;485;p52"/>
          <p:cNvSpPr txBox="1"/>
          <p:nvPr/>
        </p:nvSpPr>
        <p:spPr>
          <a:xfrm>
            <a:off x="3619750" y="3169925"/>
            <a:ext cx="242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AF9F5"/>
                </a:solidFill>
                <a:highlight>
                  <a:srgbClr val="30302E"/>
                </a:highlight>
                <a:latin typeface="Montserrat"/>
                <a:ea typeface="Montserrat"/>
                <a:cs typeface="Montserrat"/>
                <a:sym typeface="Montserrat"/>
              </a:rPr>
              <a:t>Soft Skills for Hard Tech: The Ultimate Career Accelerators</a:t>
            </a:r>
            <a:endParaRPr b="1" sz="12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6" name="Google Shape;486;p52"/>
          <p:cNvSpPr txBox="1"/>
          <p:nvPr/>
        </p:nvSpPr>
        <p:spPr>
          <a:xfrm>
            <a:off x="6458040" y="3242527"/>
            <a:ext cx="224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Cyber Alert: Staying Safe in a Digital-First World</a:t>
            </a:r>
            <a:endParaRPr sz="1200"/>
          </a:p>
        </p:txBody>
      </p:sp>
      <p:sp>
        <p:nvSpPr>
          <p:cNvPr id="487" name="Google Shape;487;p52"/>
          <p:cNvSpPr txBox="1"/>
          <p:nvPr/>
        </p:nvSpPr>
        <p:spPr>
          <a:xfrm>
            <a:off x="6528926" y="3692841"/>
            <a:ext cx="213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Breaks down real-world cybersecurity threats and equips everyday users and beginners with practical online safety habits</a:t>
            </a:r>
            <a:endParaRPr/>
          </a:p>
        </p:txBody>
      </p:sp>
      <p:sp>
        <p:nvSpPr>
          <p:cNvPr id="488" name="Google Shape;488;p52"/>
          <p:cNvSpPr txBox="1"/>
          <p:nvPr/>
        </p:nvSpPr>
        <p:spPr>
          <a:xfrm>
            <a:off x="9148263" y="3184977"/>
            <a:ext cx="224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Riding the Next Tech Wave: Data, AI, and the Future </a:t>
            </a:r>
            <a:endParaRPr sz="1200"/>
          </a:p>
        </p:txBody>
      </p:sp>
      <p:sp>
        <p:nvSpPr>
          <p:cNvPr id="489" name="Google Shape;489;p52"/>
          <p:cNvSpPr txBox="1"/>
          <p:nvPr/>
        </p:nvSpPr>
        <p:spPr>
          <a:xfrm>
            <a:off x="9195376" y="3684325"/>
            <a:ext cx="224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Explores how AI and data science are reshaping every industry, and how anyone  at any level can get involved</a:t>
            </a:r>
            <a:endParaRPr sz="1000"/>
          </a:p>
        </p:txBody>
      </p:sp>
      <p:pic>
        <p:nvPicPr>
          <p:cNvPr descr="image.png" id="490" name="Google Shape;490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725" y="4885900"/>
            <a:ext cx="2614612" cy="138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1" name="Google Shape;491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3837" y="4885900"/>
            <a:ext cx="2614612" cy="138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2" name="Google Shape;492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0301" y="4815050"/>
            <a:ext cx="2614612" cy="138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3" name="Google Shape;493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4063" y="4885900"/>
            <a:ext cx="2614612" cy="13891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52"/>
          <p:cNvSpPr txBox="1"/>
          <p:nvPr/>
        </p:nvSpPr>
        <p:spPr>
          <a:xfrm>
            <a:off x="668500" y="4938900"/>
            <a:ext cx="2519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Leveraging the EdTech Revolution: Modern Learning for Fast Growth</a:t>
            </a:r>
            <a:endParaRPr sz="1200"/>
          </a:p>
        </p:txBody>
      </p:sp>
      <p:sp>
        <p:nvSpPr>
          <p:cNvPr id="495" name="Google Shape;495;p52"/>
          <p:cNvSpPr txBox="1"/>
          <p:nvPr/>
        </p:nvSpPr>
        <p:spPr>
          <a:xfrm>
            <a:off x="676543" y="5509101"/>
            <a:ext cx="2614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Learn how to strategically navigate online bootcamps, certifications, and digital resources to accelerate your personal tech growth on your own terms</a:t>
            </a:r>
            <a:endParaRPr sz="1000"/>
          </a:p>
        </p:txBody>
      </p:sp>
      <p:sp>
        <p:nvSpPr>
          <p:cNvPr id="496" name="Google Shape;496;p52"/>
          <p:cNvSpPr txBox="1"/>
          <p:nvPr/>
        </p:nvSpPr>
        <p:spPr>
          <a:xfrm>
            <a:off x="3671962" y="4992427"/>
            <a:ext cx="2245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1350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Unlocking Your Value Proposition </a:t>
            </a:r>
            <a:endParaRPr/>
          </a:p>
        </p:txBody>
      </p:sp>
      <p:sp>
        <p:nvSpPr>
          <p:cNvPr id="497" name="Google Shape;497;p52"/>
          <p:cNvSpPr txBox="1"/>
          <p:nvPr/>
        </p:nvSpPr>
        <p:spPr>
          <a:xfrm>
            <a:off x="3527061" y="5485925"/>
            <a:ext cx="242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00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Learn how to identify and pitch your unique strengths so potential employers see you as a necessity rather than an option</a:t>
            </a:r>
            <a:endParaRPr sz="1000"/>
          </a:p>
        </p:txBody>
      </p:sp>
      <p:sp>
        <p:nvSpPr>
          <p:cNvPr id="498" name="Google Shape;498;p52"/>
          <p:cNvSpPr txBox="1"/>
          <p:nvPr/>
        </p:nvSpPr>
        <p:spPr>
          <a:xfrm>
            <a:off x="6294076" y="4976752"/>
            <a:ext cx="2245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Tech &amp; Money: Freelancing, Remote Work &amp; Building Income Online</a:t>
            </a:r>
            <a:endParaRPr sz="1200"/>
          </a:p>
        </p:txBody>
      </p:sp>
      <p:sp>
        <p:nvSpPr>
          <p:cNvPr id="499" name="Google Shape;499;p52"/>
          <p:cNvSpPr txBox="1"/>
          <p:nvPr/>
        </p:nvSpPr>
        <p:spPr>
          <a:xfrm>
            <a:off x="6238962" y="5530850"/>
            <a:ext cx="2428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Guides learners on how to monetize tech skills through freelancing platforms, remote jobs, and digital income streams. </a:t>
            </a:r>
            <a:endParaRPr/>
          </a:p>
        </p:txBody>
      </p:sp>
      <p:sp>
        <p:nvSpPr>
          <p:cNvPr id="500" name="Google Shape;500;p52"/>
          <p:cNvSpPr txBox="1"/>
          <p:nvPr/>
        </p:nvSpPr>
        <p:spPr>
          <a:xfrm>
            <a:off x="9280638" y="4992427"/>
            <a:ext cx="224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Basic Tech Tools 2027: Your Beginner Starter Kit</a:t>
            </a:r>
            <a:endParaRPr sz="1200"/>
          </a:p>
        </p:txBody>
      </p:sp>
      <p:sp>
        <p:nvSpPr>
          <p:cNvPr id="501" name="Google Shape;501;p52"/>
          <p:cNvSpPr txBox="1"/>
          <p:nvPr/>
        </p:nvSpPr>
        <p:spPr>
          <a:xfrm>
            <a:off x="9282163" y="5470478"/>
            <a:ext cx="213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Introduces the most essential free and low-cost digital tools every tech beginner needs to know and use right now.</a:t>
            </a:r>
            <a:endParaRPr/>
          </a:p>
        </p:txBody>
      </p:sp>
      <p:sp>
        <p:nvSpPr>
          <p:cNvPr id="502" name="Google Shape;502;p52"/>
          <p:cNvSpPr txBox="1"/>
          <p:nvPr/>
        </p:nvSpPr>
        <p:spPr>
          <a:xfrm>
            <a:off x="3572650" y="3629410"/>
            <a:ext cx="24282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Master the art of communication, emotional intelligence, and problem-solving that turns good techies into irreplaceable, highly-paid team leaders.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7" name="Google Shape;50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53"/>
          <p:cNvPicPr preferRelativeResize="0"/>
          <p:nvPr/>
        </p:nvPicPr>
        <p:blipFill rotWithShape="1">
          <a:blip r:embed="rId4">
            <a:alphaModFix/>
          </a:blip>
          <a:srcRect b="0" l="21161" r="19548" t="0"/>
          <a:stretch/>
        </p:blipFill>
        <p:spPr>
          <a:xfrm>
            <a:off x="6096000" y="0"/>
            <a:ext cx="6095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53"/>
          <p:cNvSpPr txBox="1"/>
          <p:nvPr/>
        </p:nvSpPr>
        <p:spPr>
          <a:xfrm>
            <a:off x="571500" y="2657475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Meeting students where curiosity is highest. A term-based engagement model layering AI and digital literacy atop standard curricula.</a:t>
            </a:r>
            <a:endParaRPr/>
          </a:p>
        </p:txBody>
      </p:sp>
      <p:sp>
        <p:nvSpPr>
          <p:cNvPr id="510" name="Google Shape;510;p53"/>
          <p:cNvSpPr txBox="1"/>
          <p:nvPr/>
        </p:nvSpPr>
        <p:spPr>
          <a:xfrm>
            <a:off x="571500" y="389572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Pilot Strategy: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10 selected schools in Term 1 to refine the pedagogy before scaling.</a:t>
            </a:r>
            <a:endParaRPr/>
          </a:p>
        </p:txBody>
      </p:sp>
      <p:sp>
        <p:nvSpPr>
          <p:cNvPr id="511" name="Google Shape;511;p53"/>
          <p:cNvSpPr txBox="1"/>
          <p:nvPr/>
        </p:nvSpPr>
        <p:spPr>
          <a:xfrm>
            <a:off x="571500" y="762000"/>
            <a:ext cx="5200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AI Secondary School Plan</a:t>
            </a:r>
            <a:endParaRPr b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2" name="Google Shape;512;p53"/>
          <p:cNvSpPr txBox="1"/>
          <p:nvPr/>
        </p:nvSpPr>
        <p:spPr>
          <a:xfrm>
            <a:off x="571500" y="2247900"/>
            <a:ext cx="5200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Nurturing Tomorrow's Talent</a:t>
            </a:r>
            <a:endParaRPr/>
          </a:p>
        </p:txBody>
      </p:sp>
      <p:sp>
        <p:nvSpPr>
          <p:cNvPr id="513" name="Google Shape;513;p53"/>
          <p:cNvSpPr txBox="1"/>
          <p:nvPr/>
        </p:nvSpPr>
        <p:spPr>
          <a:xfrm>
            <a:off x="571500" y="5381250"/>
            <a:ext cx="4953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Facilitators</a:t>
            </a: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Corp members will be employed for the training (1 corp meber to 5 schools)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0C18"/>
        </a:solidFill>
      </p:bgPr>
    </p:bg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54"/>
          <p:cNvSpPr txBox="1"/>
          <p:nvPr/>
        </p:nvSpPr>
        <p:spPr>
          <a:xfrm>
            <a:off x="904875" y="571500"/>
            <a:ext cx="6111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AI Secondary School Program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19" name="Google Shape;519;p54"/>
          <p:cNvSpPr/>
          <p:nvPr/>
        </p:nvSpPr>
        <p:spPr>
          <a:xfrm>
            <a:off x="762000" y="571500"/>
            <a:ext cx="57300" cy="43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54"/>
          <p:cNvSpPr txBox="1"/>
          <p:nvPr/>
        </p:nvSpPr>
        <p:spPr>
          <a:xfrm>
            <a:off x="681875" y="1780275"/>
            <a:ext cx="62262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31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B2B Classroom Embedding</a:t>
            </a:r>
            <a:endParaRPr sz="1889">
              <a:solidFill>
                <a:schemeClr val="lt1"/>
              </a:solidFill>
            </a:endParaRPr>
          </a:p>
        </p:txBody>
      </p:sp>
      <p:sp>
        <p:nvSpPr>
          <p:cNvPr id="521" name="Google Shape;521;p54"/>
          <p:cNvSpPr txBox="1"/>
          <p:nvPr/>
        </p:nvSpPr>
        <p:spPr>
          <a:xfrm>
            <a:off x="681875" y="2409889"/>
            <a:ext cx="5929200" cy="6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18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Bringing hands-on digital training curriculum into 10–30 secondary schools in Lagos and Ogun States.</a:t>
            </a:r>
            <a:endParaRPr sz="1889">
              <a:solidFill>
                <a:schemeClr val="lt1"/>
              </a:solidFill>
            </a:endParaRPr>
          </a:p>
        </p:txBody>
      </p:sp>
      <p:sp>
        <p:nvSpPr>
          <p:cNvPr id="522" name="Google Shape;522;p54"/>
          <p:cNvSpPr txBox="1"/>
          <p:nvPr/>
        </p:nvSpPr>
        <p:spPr>
          <a:xfrm>
            <a:off x="914623" y="3553475"/>
            <a:ext cx="5464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16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Web Lead Capture:</a:t>
            </a:r>
            <a:r>
              <a:rPr b="0" i="0" lang="en-US" sz="1416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B2B portal targeted at school administrators and proprietors.</a:t>
            </a:r>
            <a:endParaRPr sz="1889">
              <a:solidFill>
                <a:schemeClr val="lt1"/>
              </a:solidFill>
            </a:endParaRPr>
          </a:p>
        </p:txBody>
      </p:sp>
      <p:sp>
        <p:nvSpPr>
          <p:cNvPr id="523" name="Google Shape;523;p54"/>
          <p:cNvSpPr txBox="1"/>
          <p:nvPr/>
        </p:nvSpPr>
        <p:spPr>
          <a:xfrm>
            <a:off x="914623" y="4257375"/>
            <a:ext cx="5464200" cy="9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16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Supplemental LMS Resource Support:</a:t>
            </a:r>
            <a:r>
              <a:rPr b="0" i="0" lang="en-US" sz="1416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Hosting lesson outlines, projects, and study guides for students to access outside the computer lab.</a:t>
            </a:r>
            <a:endParaRPr sz="1889">
              <a:solidFill>
                <a:schemeClr val="lt1"/>
              </a:solidFill>
            </a:endParaRPr>
          </a:p>
        </p:txBody>
      </p:sp>
      <p:sp>
        <p:nvSpPr>
          <p:cNvPr id="524" name="Google Shape;524;p54"/>
          <p:cNvSpPr txBox="1"/>
          <p:nvPr/>
        </p:nvSpPr>
        <p:spPr>
          <a:xfrm>
            <a:off x="7201475" y="2185275"/>
            <a:ext cx="4069500" cy="4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31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Key Features </a:t>
            </a:r>
            <a:endParaRPr sz="1889">
              <a:solidFill>
                <a:schemeClr val="lt1"/>
              </a:solidFill>
            </a:endParaRPr>
          </a:p>
        </p:txBody>
      </p:sp>
      <p:sp>
        <p:nvSpPr>
          <p:cNvPr id="525" name="Google Shape;525;p54"/>
          <p:cNvSpPr txBox="1"/>
          <p:nvPr/>
        </p:nvSpPr>
        <p:spPr>
          <a:xfrm>
            <a:off x="7201475" y="2918525"/>
            <a:ext cx="4778700" cy="18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16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•	Term-based engagement</a:t>
            </a:r>
            <a:endParaRPr sz="1416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16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•	Layered on top of standard Nigerian curriculum</a:t>
            </a:r>
            <a:endParaRPr sz="1416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16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•	Hands-on workshops (AI tools, digital literacy)</a:t>
            </a:r>
            <a:endParaRPr sz="1416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16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•	Facilitated by trained NYSC corp members</a:t>
            </a:r>
            <a:endParaRPr sz="1416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l">
              <a:lnSpc>
                <a:spcPct val="159904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16">
              <a:solidFill>
                <a:schemeClr val="lt1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0" name="Google Shape;53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302396"/>
            <a:ext cx="2614612" cy="18648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1" name="Google Shape;53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86137" y="1302396"/>
            <a:ext cx="2614612" cy="18648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2" name="Google Shape;53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250" y="1302396"/>
            <a:ext cx="2614612" cy="18648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3" name="Google Shape;53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6362" y="1302396"/>
            <a:ext cx="2614612" cy="1864816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55"/>
          <p:cNvSpPr txBox="1"/>
          <p:nvPr/>
        </p:nvSpPr>
        <p:spPr>
          <a:xfrm>
            <a:off x="771525" y="581025"/>
            <a:ext cx="11381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SCHOOL ENGAGEMENT FRAMEWORK</a:t>
            </a:r>
            <a:endParaRPr/>
          </a:p>
        </p:txBody>
      </p:sp>
      <p:sp>
        <p:nvSpPr>
          <p:cNvPr id="535" name="Google Shape;535;p55"/>
          <p:cNvSpPr/>
          <p:nvPr/>
        </p:nvSpPr>
        <p:spPr>
          <a:xfrm>
            <a:off x="581025" y="581025"/>
            <a:ext cx="47700" cy="419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36" name="Google Shape;536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" y="1540521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55"/>
          <p:cNvSpPr txBox="1"/>
          <p:nvPr/>
        </p:nvSpPr>
        <p:spPr>
          <a:xfrm>
            <a:off x="819150" y="1988196"/>
            <a:ext cx="224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VISITS</a:t>
            </a:r>
            <a:endParaRPr/>
          </a:p>
        </p:txBody>
      </p:sp>
      <p:sp>
        <p:nvSpPr>
          <p:cNvPr id="538" name="Google Shape;538;p55"/>
          <p:cNvSpPr txBox="1"/>
          <p:nvPr/>
        </p:nvSpPr>
        <p:spPr>
          <a:xfrm>
            <a:off x="819150" y="2331096"/>
            <a:ext cx="2138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Relationship building with administrators.</a:t>
            </a:r>
            <a:endParaRPr/>
          </a:p>
        </p:txBody>
      </p:sp>
      <p:pic>
        <p:nvPicPr>
          <p:cNvPr descr="image.png" id="539" name="Google Shape;539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24262" y="1540521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55"/>
          <p:cNvSpPr txBox="1"/>
          <p:nvPr/>
        </p:nvSpPr>
        <p:spPr>
          <a:xfrm>
            <a:off x="3624262" y="1988196"/>
            <a:ext cx="224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PROPOSALS</a:t>
            </a:r>
            <a:endParaRPr/>
          </a:p>
        </p:txBody>
      </p:sp>
      <p:sp>
        <p:nvSpPr>
          <p:cNvPr id="541" name="Google Shape;541;p55"/>
          <p:cNvSpPr txBox="1"/>
          <p:nvPr/>
        </p:nvSpPr>
        <p:spPr>
          <a:xfrm>
            <a:off x="3624262" y="2331096"/>
            <a:ext cx="2138400" cy="4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Customized value-props for school boards.</a:t>
            </a:r>
            <a:endParaRPr/>
          </a:p>
        </p:txBody>
      </p:sp>
      <p:pic>
        <p:nvPicPr>
          <p:cNvPr descr="image.png" id="542" name="Google Shape;542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9375" y="1540521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55"/>
          <p:cNvSpPr txBox="1"/>
          <p:nvPr/>
        </p:nvSpPr>
        <p:spPr>
          <a:xfrm>
            <a:off x="6429375" y="1988196"/>
            <a:ext cx="224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SCHEDULING</a:t>
            </a:r>
            <a:endParaRPr/>
          </a:p>
        </p:txBody>
      </p:sp>
      <p:sp>
        <p:nvSpPr>
          <p:cNvPr id="544" name="Google Shape;544;p55"/>
          <p:cNvSpPr txBox="1"/>
          <p:nvPr/>
        </p:nvSpPr>
        <p:spPr>
          <a:xfrm>
            <a:off x="6429375" y="2331096"/>
            <a:ext cx="2138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Integration with term calendars.</a:t>
            </a:r>
            <a:endParaRPr/>
          </a:p>
        </p:txBody>
      </p:sp>
      <p:pic>
        <p:nvPicPr>
          <p:cNvPr descr="image.png" id="545" name="Google Shape;545;p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234487" y="1540521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55"/>
          <p:cNvSpPr txBox="1"/>
          <p:nvPr/>
        </p:nvSpPr>
        <p:spPr>
          <a:xfrm>
            <a:off x="9234487" y="1988196"/>
            <a:ext cx="2245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1F5F9"/>
                </a:solidFill>
                <a:latin typeface="Montserrat"/>
                <a:ea typeface="Montserrat"/>
                <a:cs typeface="Montserrat"/>
                <a:sym typeface="Montserrat"/>
              </a:rPr>
              <a:t>DELIVERY</a:t>
            </a:r>
            <a:endParaRPr/>
          </a:p>
        </p:txBody>
      </p:sp>
      <p:sp>
        <p:nvSpPr>
          <p:cNvPr id="547" name="Google Shape;547;p55"/>
          <p:cNvSpPr txBox="1"/>
          <p:nvPr/>
        </p:nvSpPr>
        <p:spPr>
          <a:xfrm>
            <a:off x="9234487" y="2331096"/>
            <a:ext cx="2138400" cy="6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On-site facilitator-led workshops.</a:t>
            </a:r>
            <a:br>
              <a:rPr b="0" i="0" lang="en-US" sz="105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0" i="0" lang="en-US" sz="1050" u="none" cap="none" strike="noStrik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(Corp member to be recruited </a:t>
            </a:r>
            <a:r>
              <a:rPr lang="en-US" sz="105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to facilitate)</a:t>
            </a:r>
            <a:endParaRPr/>
          </a:p>
        </p:txBody>
      </p:sp>
      <p:pic>
        <p:nvPicPr>
          <p:cNvPr descr="image.png" id="548" name="Google Shape;548;p55"/>
          <p:cNvPicPr preferRelativeResize="0"/>
          <p:nvPr/>
        </p:nvPicPr>
        <p:blipFill rotWithShape="1">
          <a:blip r:embed="rId8">
            <a:alphaModFix/>
          </a:blip>
          <a:srcRect b="62956" l="0" r="0" t="0"/>
          <a:stretch/>
        </p:blipFill>
        <p:spPr>
          <a:xfrm>
            <a:off x="571500" y="3703850"/>
            <a:ext cx="11049000" cy="1468575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55"/>
          <p:cNvSpPr txBox="1"/>
          <p:nvPr/>
        </p:nvSpPr>
        <p:spPr>
          <a:xfrm>
            <a:off x="571500" y="5810250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Aggregated Reach: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0 school-term engagements by Year 1 completion.</a:t>
            </a:r>
            <a:endParaRPr/>
          </a:p>
        </p:txBody>
      </p:sp>
      <p:sp>
        <p:nvSpPr>
          <p:cNvPr id="550" name="Google Shape;550;p55"/>
          <p:cNvSpPr txBox="1"/>
          <p:nvPr/>
        </p:nvSpPr>
        <p:spPr>
          <a:xfrm>
            <a:off x="771525" y="5375838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Minimum Student to be </a:t>
            </a:r>
            <a:r>
              <a:rPr lang="en-US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enrolled per school : 50</a:t>
            </a:r>
            <a:r>
              <a:rPr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6"/>
          <p:cNvSpPr/>
          <p:nvPr/>
        </p:nvSpPr>
        <p:spPr>
          <a:xfrm>
            <a:off x="661492" y="1119820"/>
            <a:ext cx="69108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Inter"/>
              <a:buNone/>
            </a:pPr>
            <a:r>
              <a:rPr b="1" lang="en-US" sz="37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AI Secondary School Program </a:t>
            </a:r>
            <a:endParaRPr b="0" i="0" sz="3700" u="none" cap="none" strike="noStrike"/>
          </a:p>
        </p:txBody>
      </p:sp>
      <p:sp>
        <p:nvSpPr>
          <p:cNvPr id="557" name="Google Shape;557;p56"/>
          <p:cNvSpPr/>
          <p:nvPr/>
        </p:nvSpPr>
        <p:spPr>
          <a:xfrm>
            <a:off x="712325" y="2004550"/>
            <a:ext cx="47571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00"/>
              <a:buFont typeface="Inter"/>
              <a:buNone/>
            </a:pPr>
            <a:r>
              <a:rPr b="1" lang="en-US" sz="18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Website Implementation Requirements </a:t>
            </a:r>
            <a:endParaRPr b="0" i="0" sz="1800" u="none" cap="none" strike="noStrike"/>
          </a:p>
        </p:txBody>
      </p:sp>
      <p:sp>
        <p:nvSpPr>
          <p:cNvPr id="558" name="Google Shape;558;p56"/>
          <p:cNvSpPr/>
          <p:nvPr/>
        </p:nvSpPr>
        <p:spPr>
          <a:xfrm>
            <a:off x="421725" y="2449175"/>
            <a:ext cx="5443500" cy="1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•	AI-secondary page</a:t>
            </a:r>
            <a:endParaRPr b="1" sz="1500">
              <a:solidFill>
                <a:srgbClr val="E5E0D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•	School partnership application form</a:t>
            </a:r>
            <a:endParaRPr b="1" sz="1500">
              <a:solidFill>
                <a:srgbClr val="E5E0D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•	Program overview with benefits for schools/students</a:t>
            </a:r>
            <a:endParaRPr b="1" sz="1500">
              <a:solidFill>
                <a:srgbClr val="E5E0D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•	Case studies / pilot results (as available)</a:t>
            </a:r>
            <a:endParaRPr b="1" sz="1500">
              <a:solidFill>
                <a:srgbClr val="E5E0D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•	Facilitator recruitment information</a:t>
            </a:r>
            <a:endParaRPr b="1" sz="1500">
              <a:solidFill>
                <a:srgbClr val="E5E0D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20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t/>
            </a:r>
            <a:endParaRPr b="1" sz="1500">
              <a:solidFill>
                <a:srgbClr val="E5E0D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9" name="Google Shape;559;p56"/>
          <p:cNvSpPr/>
          <p:nvPr/>
        </p:nvSpPr>
        <p:spPr>
          <a:xfrm>
            <a:off x="6241293" y="2004550"/>
            <a:ext cx="48351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00"/>
              <a:buFont typeface="Inter"/>
              <a:buNone/>
            </a:pPr>
            <a:r>
              <a:rPr b="1" lang="en-US" sz="18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Process for School Partnerships </a:t>
            </a:r>
            <a:endParaRPr b="0" i="0" sz="1800" u="none" cap="none" strike="noStrike"/>
          </a:p>
        </p:txBody>
      </p:sp>
      <p:sp>
        <p:nvSpPr>
          <p:cNvPr id="560" name="Google Shape;560;p56"/>
          <p:cNvSpPr/>
          <p:nvPr/>
        </p:nvSpPr>
        <p:spPr>
          <a:xfrm>
            <a:off x="6241301" y="2708500"/>
            <a:ext cx="5234700" cy="19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1.	Outreach &amp; initial visits</a:t>
            </a:r>
            <a:endParaRPr b="1" sz="1500">
              <a:solidFill>
                <a:srgbClr val="E5E0D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2.	Customized proposal submission</a:t>
            </a:r>
            <a:endParaRPr b="1" sz="1500">
              <a:solidFill>
                <a:srgbClr val="E5E0D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3.	Agreement &amp; scheduling</a:t>
            </a:r>
            <a:endParaRPr b="1" sz="1500">
              <a:solidFill>
                <a:srgbClr val="E5E0D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4.	Facilitator deployment (1 corp member : 5 schools)</a:t>
            </a:r>
            <a:endParaRPr b="1" sz="1500">
              <a:solidFill>
                <a:srgbClr val="E5E0D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5.	Program delivery &amp; feedback loops</a:t>
            </a:r>
            <a:endParaRPr b="1" sz="1500">
              <a:solidFill>
                <a:srgbClr val="E5E0D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500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6.	Reporting to school administration</a:t>
            </a:r>
            <a:endParaRPr b="1" sz="1500">
              <a:solidFill>
                <a:srgbClr val="E5E0DF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120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t/>
            </a:r>
            <a:endParaRPr b="1" sz="1500">
              <a:solidFill>
                <a:srgbClr val="E5E0D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7"/>
          <p:cNvSpPr/>
          <p:nvPr/>
        </p:nvSpPr>
        <p:spPr>
          <a:xfrm>
            <a:off x="661492" y="1614388"/>
            <a:ext cx="1719857" cy="367903"/>
          </a:xfrm>
          <a:prstGeom prst="roundRect">
            <a:avLst>
              <a:gd fmla="val 17263" name="adj"/>
            </a:avLst>
          </a:prstGeom>
          <a:noFill/>
          <a:ln cap="flat" cmpd="sng" w="9525">
            <a:solidFill>
              <a:srgbClr val="2B0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57"/>
          <p:cNvSpPr/>
          <p:nvPr/>
        </p:nvSpPr>
        <p:spPr>
          <a:xfrm>
            <a:off x="781248" y="1677392"/>
            <a:ext cx="2089944" cy="241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0A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GTM — CAMPAIGNS</a:t>
            </a:r>
            <a:endParaRPr b="0" i="0" sz="1100" u="none" cap="none" strike="noStrike"/>
          </a:p>
        </p:txBody>
      </p:sp>
      <p:sp>
        <p:nvSpPr>
          <p:cNvPr id="568" name="Google Shape;568;p57"/>
          <p:cNvSpPr/>
          <p:nvPr/>
        </p:nvSpPr>
        <p:spPr>
          <a:xfrm>
            <a:off x="661492" y="2057896"/>
            <a:ext cx="758517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Inter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B2C &amp; B2B Campaign Strategy</a:t>
            </a:r>
            <a:endParaRPr b="0" i="0" sz="3700" u="none" cap="none" strike="noStrike"/>
          </a:p>
        </p:txBody>
      </p:sp>
      <p:sp>
        <p:nvSpPr>
          <p:cNvPr id="569" name="Google Shape;569;p57"/>
          <p:cNvSpPr/>
          <p:nvPr/>
        </p:nvSpPr>
        <p:spPr>
          <a:xfrm>
            <a:off x="661492" y="2932013"/>
            <a:ext cx="5339953" cy="2311499"/>
          </a:xfrm>
          <a:prstGeom prst="roundRect">
            <a:avLst>
              <a:gd fmla="val 3435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57"/>
          <p:cNvSpPr/>
          <p:nvPr/>
        </p:nvSpPr>
        <p:spPr>
          <a:xfrm>
            <a:off x="856853" y="3127375"/>
            <a:ext cx="4673997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B2C — Professionals, Kids &amp; Undergrads</a:t>
            </a:r>
            <a:endParaRPr b="0" i="0" sz="1800" u="none" cap="none" strike="noStrike"/>
          </a:p>
        </p:txBody>
      </p:sp>
      <p:sp>
        <p:nvSpPr>
          <p:cNvPr id="571" name="Google Shape;571;p57"/>
          <p:cNvSpPr/>
          <p:nvPr/>
        </p:nvSpPr>
        <p:spPr>
          <a:xfrm>
            <a:off x="856853" y="3536057"/>
            <a:ext cx="4949229" cy="1512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Hyper-targeted LinkedIn and Meta ads focused on Accountants, Administrators, and Parents in Lagos/Ogun. Short-form video content (Reels, TikToks, Shorts) showcasing student success stories to drive direct website registrations.</a:t>
            </a:r>
            <a:endParaRPr b="0" i="0" sz="1500" u="none" cap="none" strike="noStrike"/>
          </a:p>
        </p:txBody>
      </p:sp>
      <p:sp>
        <p:nvSpPr>
          <p:cNvPr id="572" name="Google Shape;572;p57"/>
          <p:cNvSpPr/>
          <p:nvPr/>
        </p:nvSpPr>
        <p:spPr>
          <a:xfrm>
            <a:off x="6190456" y="2932013"/>
            <a:ext cx="5340052" cy="2311499"/>
          </a:xfrm>
          <a:prstGeom prst="roundRect">
            <a:avLst>
              <a:gd fmla="val 3435" name="adj"/>
            </a:avLst>
          </a:prstGeom>
          <a:solidFill>
            <a:srgbClr val="110080"/>
          </a:solidFill>
          <a:ln cap="flat" cmpd="sng" w="9525">
            <a:solidFill>
              <a:srgbClr val="2A1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57"/>
          <p:cNvSpPr/>
          <p:nvPr/>
        </p:nvSpPr>
        <p:spPr>
          <a:xfrm>
            <a:off x="6385817" y="3127375"/>
            <a:ext cx="4250829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B2B — AI Secondary School Program</a:t>
            </a:r>
            <a:endParaRPr b="0" i="0" sz="1800" u="none" cap="none" strike="noStrike"/>
          </a:p>
        </p:txBody>
      </p:sp>
      <p:sp>
        <p:nvSpPr>
          <p:cNvPr id="574" name="Google Shape;574;p57"/>
          <p:cNvSpPr/>
          <p:nvPr/>
        </p:nvSpPr>
        <p:spPr>
          <a:xfrm>
            <a:off x="6385817" y="3536057"/>
            <a:ext cx="4949329" cy="15120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High-quality digital and physical corporate proposals, pitch decks, and case studies for school proprietors. Targeted email and LinkedIn campaigns directed at school board members and key academic stakeholders.</a:t>
            </a:r>
            <a:endParaRPr b="0" i="0" sz="1500" u="none" cap="none" strike="noStrike"/>
          </a:p>
        </p:txBody>
      </p:sp>
      <p:sp>
        <p:nvSpPr>
          <p:cNvPr id="575" name="Google Shape;575;p57"/>
          <p:cNvSpPr/>
          <p:nvPr/>
        </p:nvSpPr>
        <p:spPr>
          <a:xfrm>
            <a:off x="10671775" y="6339125"/>
            <a:ext cx="1520100" cy="461400"/>
          </a:xfrm>
          <a:prstGeom prst="rect">
            <a:avLst/>
          </a:prstGeom>
          <a:solidFill>
            <a:srgbClr val="30302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80" name="Google Shape;580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07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1" name="Google Shape;581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86025"/>
            <a:ext cx="2523125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2" name="Google Shape;582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55500" y="2486025"/>
            <a:ext cx="246500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58"/>
          <p:cNvSpPr txBox="1"/>
          <p:nvPr/>
        </p:nvSpPr>
        <p:spPr>
          <a:xfrm>
            <a:off x="571500" y="5036282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Subscriber Target:</a:t>
            </a:r>
            <a:r>
              <a:rPr b="0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200 (Pilot) → 10,000 (Year End)</a:t>
            </a:r>
            <a:endParaRPr/>
          </a:p>
        </p:txBody>
      </p:sp>
      <p:sp>
        <p:nvSpPr>
          <p:cNvPr id="584" name="Google Shape;584;p58"/>
          <p:cNvSpPr txBox="1"/>
          <p:nvPr/>
        </p:nvSpPr>
        <p:spPr>
          <a:xfrm>
            <a:off x="691713" y="3007075"/>
            <a:ext cx="22827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Continuous content addition monthly to keep subscriptions relevant and retain learners.</a:t>
            </a:r>
            <a:endParaRPr/>
          </a:p>
        </p:txBody>
      </p:sp>
      <p:sp>
        <p:nvSpPr>
          <p:cNvPr id="585" name="Google Shape;585;p58"/>
          <p:cNvSpPr txBox="1"/>
          <p:nvPr/>
        </p:nvSpPr>
        <p:spPr>
          <a:xfrm>
            <a:off x="9334150" y="3007075"/>
            <a:ext cx="24651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Leveraging Free </a:t>
            </a:r>
            <a:r>
              <a:rPr lang="en-US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</a:t>
            </a:r>
            <a:r>
              <a:rPr b="0" i="0" lang="en-US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raining graduates and Webinar attendees to fuel paid Academy enrollments.</a:t>
            </a:r>
            <a:endParaRPr/>
          </a:p>
        </p:txBody>
      </p:sp>
      <p:sp>
        <p:nvSpPr>
          <p:cNvPr id="586" name="Google Shape;586;p58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Online Academy: The Flagship LMS</a:t>
            </a:r>
            <a:endParaRPr b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7" name="Google Shape;587;p58"/>
          <p:cNvSpPr txBox="1"/>
          <p:nvPr/>
        </p:nvSpPr>
        <p:spPr>
          <a:xfrm>
            <a:off x="643343" y="2644170"/>
            <a:ext cx="2523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Scaling Mechanism</a:t>
            </a:r>
            <a:endParaRPr sz="1800"/>
          </a:p>
        </p:txBody>
      </p:sp>
      <p:sp>
        <p:nvSpPr>
          <p:cNvPr id="588" name="Google Shape;588;p58"/>
          <p:cNvSpPr txBox="1"/>
          <p:nvPr/>
        </p:nvSpPr>
        <p:spPr>
          <a:xfrm>
            <a:off x="9334150" y="2598275"/>
            <a:ext cx="1839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Cross-Selling</a:t>
            </a:r>
            <a:endParaRPr/>
          </a:p>
        </p:txBody>
      </p:sp>
      <p:sp>
        <p:nvSpPr>
          <p:cNvPr id="589" name="Google Shape;589;p58"/>
          <p:cNvSpPr txBox="1"/>
          <p:nvPr/>
        </p:nvSpPr>
        <p:spPr>
          <a:xfrm>
            <a:off x="571500" y="1512950"/>
            <a:ext cx="108594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Flagship Commercial Engine. Scaling from discovery to career-ready qualification via a powerful LMS ecosystem </a:t>
            </a:r>
            <a:r>
              <a:rPr lang="en-US" sz="15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adding 2-3 new certification courses to the LMS every month. This ensures recurring value for our subscriber base</a:t>
            </a:r>
            <a:r>
              <a:rPr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90" name="Google Shape;590;p58"/>
          <p:cNvSpPr txBox="1"/>
          <p:nvPr/>
        </p:nvSpPr>
        <p:spPr>
          <a:xfrm>
            <a:off x="3573538" y="5936475"/>
            <a:ext cx="4943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Recruit → Enroll → Facilitate → </a:t>
            </a:r>
            <a:r>
              <a:rPr lang="en-US" sz="120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Reload/Cross-sell</a:t>
            </a:r>
            <a:endParaRPr/>
          </a:p>
        </p:txBody>
      </p:sp>
      <p:sp>
        <p:nvSpPr>
          <p:cNvPr id="591" name="Google Shape;591;p58"/>
          <p:cNvSpPr txBox="1"/>
          <p:nvPr/>
        </p:nvSpPr>
        <p:spPr>
          <a:xfrm>
            <a:off x="3919488" y="5391150"/>
            <a:ext cx="4353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10,000 NGN / Month Access</a:t>
            </a:r>
            <a:endParaRPr/>
          </a:p>
        </p:txBody>
      </p:sp>
      <p:pic>
        <p:nvPicPr>
          <p:cNvPr descr="image.png" id="592" name="Google Shape;592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82763" y="2515154"/>
            <a:ext cx="27707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3" name="Google Shape;593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31938" y="2515154"/>
            <a:ext cx="2817401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4" name="Google Shape;594;p5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40063" y="2618954"/>
            <a:ext cx="311850" cy="2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58"/>
          <p:cNvSpPr txBox="1"/>
          <p:nvPr/>
        </p:nvSpPr>
        <p:spPr>
          <a:xfrm>
            <a:off x="3668688" y="2618954"/>
            <a:ext cx="2284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Library Growth</a:t>
            </a:r>
            <a:endParaRPr/>
          </a:p>
        </p:txBody>
      </p:sp>
      <p:sp>
        <p:nvSpPr>
          <p:cNvPr id="596" name="Google Shape;596;p58"/>
          <p:cNvSpPr txBox="1"/>
          <p:nvPr/>
        </p:nvSpPr>
        <p:spPr>
          <a:xfrm>
            <a:off x="3373263" y="3014504"/>
            <a:ext cx="2475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New content modules added every 30 days. Diversified tracks for Tech, Business, and Soft Skills.</a:t>
            </a:r>
            <a:endParaRPr/>
          </a:p>
        </p:txBody>
      </p:sp>
      <p:pic>
        <p:nvPicPr>
          <p:cNvPr descr="image.png" id="597" name="Google Shape;597;p5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17113" y="2567054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58"/>
          <p:cNvSpPr txBox="1"/>
          <p:nvPr/>
        </p:nvSpPr>
        <p:spPr>
          <a:xfrm>
            <a:off x="6725613" y="2737304"/>
            <a:ext cx="266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Marketing Engine</a:t>
            </a:r>
            <a:endParaRPr/>
          </a:p>
        </p:txBody>
      </p:sp>
      <p:sp>
        <p:nvSpPr>
          <p:cNvPr id="599" name="Google Shape;599;p58"/>
          <p:cNvSpPr txBox="1"/>
          <p:nvPr/>
        </p:nvSpPr>
        <p:spPr>
          <a:xfrm>
            <a:off x="6270175" y="3272375"/>
            <a:ext cx="24651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Continuous campaign cycles focused on subscriber retention and lifetime value (LTV).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04" name="Google Shape;60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4362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5" name="Google Shape;605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462337"/>
            <a:ext cx="523875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59"/>
          <p:cNvSpPr txBox="1"/>
          <p:nvPr/>
        </p:nvSpPr>
        <p:spPr>
          <a:xfrm>
            <a:off x="571500" y="1990725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00D1B2"/>
                </a:solidFill>
                <a:latin typeface="Urbanist"/>
                <a:ea typeface="Urbanist"/>
                <a:cs typeface="Urbanist"/>
                <a:sym typeface="Urbanist"/>
              </a:rPr>
              <a:t>₦10,000</a:t>
            </a:r>
            <a:endParaRPr/>
          </a:p>
        </p:txBody>
      </p:sp>
      <p:sp>
        <p:nvSpPr>
          <p:cNvPr id="607" name="Google Shape;607;p59"/>
          <p:cNvSpPr txBox="1"/>
          <p:nvPr/>
        </p:nvSpPr>
        <p:spPr>
          <a:xfrm>
            <a:off x="571500" y="3324225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Full Course Fee</a:t>
            </a:r>
            <a:endParaRPr/>
          </a:p>
        </p:txBody>
      </p:sp>
      <p:sp>
        <p:nvSpPr>
          <p:cNvPr id="608" name="Google Shape;608;p59"/>
          <p:cNvSpPr txBox="1"/>
          <p:nvPr/>
        </p:nvSpPr>
        <p:spPr>
          <a:xfrm>
            <a:off x="571500" y="4467225"/>
            <a:ext cx="52389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₦2,500</a:t>
            </a:r>
            <a:endParaRPr/>
          </a:p>
        </p:txBody>
      </p:sp>
      <p:sp>
        <p:nvSpPr>
          <p:cNvPr id="609" name="Google Shape;609;p59"/>
          <p:cNvSpPr txBox="1"/>
          <p:nvPr/>
        </p:nvSpPr>
        <p:spPr>
          <a:xfrm>
            <a:off x="571500" y="5324475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Crash Course Fee</a:t>
            </a:r>
            <a:endParaRPr/>
          </a:p>
        </p:txBody>
      </p:sp>
      <p:sp>
        <p:nvSpPr>
          <p:cNvPr id="610" name="Google Shape;610;p59"/>
          <p:cNvSpPr txBox="1"/>
          <p:nvPr/>
        </p:nvSpPr>
        <p:spPr>
          <a:xfrm>
            <a:off x="6381750" y="2605087"/>
            <a:ext cx="52389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Based on 10,000 active subscribers by year-end across varying course tiers.</a:t>
            </a:r>
            <a:b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</a:br>
            <a:endParaRPr/>
          </a:p>
        </p:txBody>
      </p:sp>
      <p:sp>
        <p:nvSpPr>
          <p:cNvPr id="611" name="Google Shape;611;p59"/>
          <p:cNvSpPr txBox="1"/>
          <p:nvPr/>
        </p:nvSpPr>
        <p:spPr>
          <a:xfrm>
            <a:off x="6677100" y="4628937"/>
            <a:ext cx="4648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₦</a:t>
            </a:r>
            <a:r>
              <a:rPr b="1"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r>
              <a:rPr b="1" i="0" lang="en-US" sz="2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7.5M+</a:t>
            </a:r>
            <a:endParaRPr/>
          </a:p>
        </p:txBody>
      </p:sp>
      <p:sp>
        <p:nvSpPr>
          <p:cNvPr id="612" name="Google Shape;612;p59"/>
          <p:cNvSpPr txBox="1"/>
          <p:nvPr/>
        </p:nvSpPr>
        <p:spPr>
          <a:xfrm>
            <a:off x="6677025" y="5159937"/>
            <a:ext cx="4648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Estimated Gross Revenue from LMS</a:t>
            </a:r>
            <a:endParaRPr/>
          </a:p>
        </p:txBody>
      </p:sp>
      <p:sp>
        <p:nvSpPr>
          <p:cNvPr id="613" name="Google Shape;613;p59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Academy Revenue Model</a:t>
            </a:r>
            <a:endParaRPr b="1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4" name="Google Shape;614;p59"/>
          <p:cNvSpPr txBox="1"/>
          <p:nvPr/>
        </p:nvSpPr>
        <p:spPr>
          <a:xfrm>
            <a:off x="6381750" y="2195512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Projected Annual Revenue</a:t>
            </a:r>
            <a:endParaRPr/>
          </a:p>
        </p:txBody>
      </p:sp>
      <p:sp>
        <p:nvSpPr>
          <p:cNvPr id="615" name="Google Shape;615;p59"/>
          <p:cNvSpPr txBox="1"/>
          <p:nvPr/>
        </p:nvSpPr>
        <p:spPr>
          <a:xfrm>
            <a:off x="6677100" y="3603150"/>
            <a:ext cx="3990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70% - Crash Course- 17.5M</a:t>
            </a:r>
            <a:br>
              <a:rPr b="1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1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30% Full Course - </a:t>
            </a:r>
            <a:r>
              <a:rPr b="1" i="0" lang="en-US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₦</a:t>
            </a:r>
            <a:r>
              <a:rPr b="1" lang="en-US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30</a:t>
            </a:r>
            <a:r>
              <a:rPr b="1" i="0" lang="en-US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0"/>
          <p:cNvSpPr/>
          <p:nvPr/>
        </p:nvSpPr>
        <p:spPr>
          <a:xfrm>
            <a:off x="661492" y="817563"/>
            <a:ext cx="1114524" cy="367903"/>
          </a:xfrm>
          <a:prstGeom prst="roundRect">
            <a:avLst>
              <a:gd fmla="val 17263" name="adj"/>
            </a:avLst>
          </a:prstGeom>
          <a:noFill/>
          <a:ln cap="flat" cmpd="sng" w="9525">
            <a:solidFill>
              <a:srgbClr val="2B0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60"/>
          <p:cNvSpPr/>
          <p:nvPr/>
        </p:nvSpPr>
        <p:spPr>
          <a:xfrm>
            <a:off x="781248" y="880567"/>
            <a:ext cx="1484611" cy="241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0A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PRODUCT 6</a:t>
            </a:r>
            <a:endParaRPr b="0" i="0" sz="1100" u="none" cap="none" strike="noStrike"/>
          </a:p>
        </p:txBody>
      </p:sp>
      <p:sp>
        <p:nvSpPr>
          <p:cNvPr id="623" name="Google Shape;623;p60"/>
          <p:cNvSpPr/>
          <p:nvPr/>
        </p:nvSpPr>
        <p:spPr>
          <a:xfrm>
            <a:off x="661492" y="1261071"/>
            <a:ext cx="9737824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Inter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Online Academy — Subscription Engine</a:t>
            </a:r>
            <a:endParaRPr b="0" i="0" sz="3700" u="none" cap="none" strike="noStrike"/>
          </a:p>
        </p:txBody>
      </p:sp>
      <p:sp>
        <p:nvSpPr>
          <p:cNvPr id="624" name="Google Shape;624;p60"/>
          <p:cNvSpPr/>
          <p:nvPr/>
        </p:nvSpPr>
        <p:spPr>
          <a:xfrm>
            <a:off x="661492" y="2135188"/>
            <a:ext cx="10869017" cy="604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Format:</a:t>
            </a: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100% digital self-paced · </a:t>
            </a:r>
            <a:r>
              <a:rPr b="1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Target:</a:t>
            </a: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Scale to 10,000+ subscribers. Website acts as searchable, filtered course marketplace.</a:t>
            </a:r>
            <a:endParaRPr b="0" i="0" sz="1500" u="none" cap="none" strike="noStrike"/>
          </a:p>
        </p:txBody>
      </p:sp>
      <p:sp>
        <p:nvSpPr>
          <p:cNvPr id="625" name="Google Shape;625;p60"/>
          <p:cNvSpPr/>
          <p:nvPr/>
        </p:nvSpPr>
        <p:spPr>
          <a:xfrm>
            <a:off x="661492" y="2952651"/>
            <a:ext cx="10869017" cy="3087688"/>
          </a:xfrm>
          <a:prstGeom prst="roundRect">
            <a:avLst>
              <a:gd fmla="val 2571" name="adj"/>
            </a:avLst>
          </a:prstGeom>
          <a:noFill/>
          <a:ln cap="flat" cmpd="sng" w="9525">
            <a:solidFill>
              <a:srgbClr val="FFFFFF">
                <a:alpha val="2392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60"/>
          <p:cNvSpPr/>
          <p:nvPr/>
        </p:nvSpPr>
        <p:spPr>
          <a:xfrm>
            <a:off x="667841" y="2959001"/>
            <a:ext cx="10856317" cy="541933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60"/>
          <p:cNvSpPr/>
          <p:nvPr/>
        </p:nvSpPr>
        <p:spPr>
          <a:xfrm>
            <a:off x="856952" y="3078757"/>
            <a:ext cx="3268167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Tier</a:t>
            </a:r>
            <a:endParaRPr b="0" i="0" sz="1500" u="none" cap="none" strike="noStrike"/>
          </a:p>
        </p:txBody>
      </p:sp>
      <p:sp>
        <p:nvSpPr>
          <p:cNvPr id="628" name="Google Shape;628;p60"/>
          <p:cNvSpPr/>
          <p:nvPr/>
        </p:nvSpPr>
        <p:spPr>
          <a:xfrm>
            <a:off x="3899892" y="3078757"/>
            <a:ext cx="4133453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Business Dynamic</a:t>
            </a:r>
            <a:endParaRPr b="0" i="0" sz="1500" u="none" cap="none" strike="noStrike"/>
          </a:p>
        </p:txBody>
      </p:sp>
      <p:sp>
        <p:nvSpPr>
          <p:cNvPr id="629" name="Google Shape;629;p60"/>
          <p:cNvSpPr/>
          <p:nvPr/>
        </p:nvSpPr>
        <p:spPr>
          <a:xfrm>
            <a:off x="7808119" y="3078757"/>
            <a:ext cx="4136628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LMS Access</a:t>
            </a:r>
            <a:endParaRPr b="0" i="0" sz="1500" u="none" cap="none" strike="noStrike"/>
          </a:p>
        </p:txBody>
      </p:sp>
      <p:sp>
        <p:nvSpPr>
          <p:cNvPr id="630" name="Google Shape;630;p60"/>
          <p:cNvSpPr/>
          <p:nvPr/>
        </p:nvSpPr>
        <p:spPr>
          <a:xfrm>
            <a:off x="667841" y="3500933"/>
            <a:ext cx="10856317" cy="844352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60"/>
          <p:cNvSpPr/>
          <p:nvPr/>
        </p:nvSpPr>
        <p:spPr>
          <a:xfrm>
            <a:off x="856952" y="3620691"/>
            <a:ext cx="3268167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A. Crash Course</a:t>
            </a:r>
            <a:endParaRPr b="0" i="0" sz="1500" u="none" cap="none" strike="noStrike"/>
          </a:p>
        </p:txBody>
      </p:sp>
      <p:sp>
        <p:nvSpPr>
          <p:cNvPr id="632" name="Google Shape;632;p60"/>
          <p:cNvSpPr/>
          <p:nvPr/>
        </p:nvSpPr>
        <p:spPr>
          <a:xfrm>
            <a:off x="3899892" y="3620691"/>
            <a:ext cx="4133453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Single micro-purchase</a:t>
            </a:r>
            <a:endParaRPr b="0" i="0" sz="1500" u="none" cap="none" strike="noStrike"/>
          </a:p>
        </p:txBody>
      </p:sp>
      <p:sp>
        <p:nvSpPr>
          <p:cNvPr id="633" name="Google Shape;633;p60"/>
          <p:cNvSpPr/>
          <p:nvPr/>
        </p:nvSpPr>
        <p:spPr>
          <a:xfrm>
            <a:off x="7808119" y="3620691"/>
            <a:ext cx="3527028" cy="604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Lifetime access to that specific module only</a:t>
            </a:r>
            <a:endParaRPr b="0" i="0" sz="1500" u="none" cap="none" strike="noStrike"/>
          </a:p>
        </p:txBody>
      </p:sp>
      <p:sp>
        <p:nvSpPr>
          <p:cNvPr id="634" name="Google Shape;634;p60"/>
          <p:cNvSpPr/>
          <p:nvPr/>
        </p:nvSpPr>
        <p:spPr>
          <a:xfrm>
            <a:off x="667841" y="4345285"/>
            <a:ext cx="10856317" cy="844352"/>
          </a:xfrm>
          <a:prstGeom prst="rect">
            <a:avLst/>
          </a:prstGeom>
          <a:solidFill>
            <a:srgbClr val="FFFFFF">
              <a:alpha val="3921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60"/>
          <p:cNvSpPr/>
          <p:nvPr/>
        </p:nvSpPr>
        <p:spPr>
          <a:xfrm>
            <a:off x="856952" y="4465043"/>
            <a:ext cx="3268167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B. Full Course</a:t>
            </a:r>
            <a:endParaRPr b="0" i="0" sz="1500" u="none" cap="none" strike="noStrike"/>
          </a:p>
        </p:txBody>
      </p:sp>
      <p:sp>
        <p:nvSpPr>
          <p:cNvPr id="636" name="Google Shape;636;p60"/>
          <p:cNvSpPr/>
          <p:nvPr/>
        </p:nvSpPr>
        <p:spPr>
          <a:xfrm>
            <a:off x="3899892" y="4465043"/>
            <a:ext cx="4133453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Premium standalone purchase</a:t>
            </a:r>
            <a:endParaRPr b="0" i="0" sz="1500" u="none" cap="none" strike="noStrike"/>
          </a:p>
        </p:txBody>
      </p:sp>
      <p:sp>
        <p:nvSpPr>
          <p:cNvPr id="637" name="Google Shape;637;p60"/>
          <p:cNvSpPr/>
          <p:nvPr/>
        </p:nvSpPr>
        <p:spPr>
          <a:xfrm>
            <a:off x="7808119" y="4465043"/>
            <a:ext cx="3527028" cy="604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Lifetime access to full specialization track + certification</a:t>
            </a:r>
            <a:endParaRPr b="0" i="0" sz="1500" u="none" cap="none" strike="noStrike"/>
          </a:p>
        </p:txBody>
      </p:sp>
      <p:sp>
        <p:nvSpPr>
          <p:cNvPr id="638" name="Google Shape;638;p60"/>
          <p:cNvSpPr/>
          <p:nvPr/>
        </p:nvSpPr>
        <p:spPr>
          <a:xfrm>
            <a:off x="667841" y="5189637"/>
            <a:ext cx="10856317" cy="844352"/>
          </a:xfrm>
          <a:prstGeom prst="rect">
            <a:avLst/>
          </a:prstGeom>
          <a:solidFill>
            <a:srgbClr val="000000">
              <a:alpha val="3921"/>
            </a:srgbClr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60"/>
          <p:cNvSpPr/>
          <p:nvPr/>
        </p:nvSpPr>
        <p:spPr>
          <a:xfrm>
            <a:off x="856952" y="5309393"/>
            <a:ext cx="3268167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C. Monthly Subscription</a:t>
            </a:r>
            <a:endParaRPr b="0" i="0" sz="1500" u="none" cap="none" strike="noStrike"/>
          </a:p>
        </p:txBody>
      </p:sp>
      <p:sp>
        <p:nvSpPr>
          <p:cNvPr id="640" name="Google Shape;640;p60"/>
          <p:cNvSpPr/>
          <p:nvPr/>
        </p:nvSpPr>
        <p:spPr>
          <a:xfrm>
            <a:off x="3899892" y="5309393"/>
            <a:ext cx="4133453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Recurring All-Access Pass</a:t>
            </a:r>
            <a:endParaRPr b="0" i="0" sz="1500" u="none" cap="none" strike="noStrike"/>
          </a:p>
        </p:txBody>
      </p:sp>
      <p:sp>
        <p:nvSpPr>
          <p:cNvPr id="641" name="Google Shape;641;p60"/>
          <p:cNvSpPr/>
          <p:nvPr/>
        </p:nvSpPr>
        <p:spPr>
          <a:xfrm>
            <a:off x="7808119" y="5309393"/>
            <a:ext cx="3527028" cy="604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None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Unlimited library access; auto-revoked if subscription lapses</a:t>
            </a:r>
            <a:endParaRPr b="0" i="0" sz="1500" u="none" cap="none" strike="noStrike"/>
          </a:p>
        </p:txBody>
      </p:sp>
      <p:sp>
        <p:nvSpPr>
          <p:cNvPr id="642" name="Google Shape;642;p60"/>
          <p:cNvSpPr/>
          <p:nvPr/>
        </p:nvSpPr>
        <p:spPr>
          <a:xfrm>
            <a:off x="10671775" y="6339125"/>
            <a:ext cx="1520100" cy="461400"/>
          </a:xfrm>
          <a:prstGeom prst="rect">
            <a:avLst/>
          </a:prstGeom>
          <a:solidFill>
            <a:srgbClr val="30302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47" name="Google Shape;64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79525"/>
            <a:ext cx="523875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8" name="Google Shape;64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779525"/>
            <a:ext cx="523875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61"/>
          <p:cNvSpPr txBox="1"/>
          <p:nvPr/>
        </p:nvSpPr>
        <p:spPr>
          <a:xfrm>
            <a:off x="866775" y="2589150"/>
            <a:ext cx="4648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Cloud-native architecture capable of supporting 50,000+ concurrent learners by Year 3.</a:t>
            </a:r>
            <a:endParaRPr/>
          </a:p>
        </p:txBody>
      </p:sp>
      <p:sp>
        <p:nvSpPr>
          <p:cNvPr id="650" name="Google Shape;650;p61"/>
          <p:cNvSpPr txBox="1"/>
          <p:nvPr/>
        </p:nvSpPr>
        <p:spPr>
          <a:xfrm>
            <a:off x="6677025" y="2589150"/>
            <a:ext cx="4648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Set a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triggered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messages for each and every phase of the attempted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application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or activities</a:t>
            </a:r>
            <a:endParaRPr/>
          </a:p>
        </p:txBody>
      </p:sp>
      <p:sp>
        <p:nvSpPr>
          <p:cNvPr id="651" name="Google Shape;651;p61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D1B2"/>
                </a:solidFill>
                <a:latin typeface="Nunito"/>
                <a:ea typeface="Nunito"/>
                <a:cs typeface="Nunito"/>
                <a:sym typeface="Nunito"/>
              </a:rPr>
              <a:t>Tech Infrastructure &amp; LMS Readiness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52" name="Google Shape;652;p61"/>
          <p:cNvSpPr txBox="1"/>
          <p:nvPr/>
        </p:nvSpPr>
        <p:spPr>
          <a:xfrm>
            <a:off x="866775" y="2074800"/>
            <a:ext cx="488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LMS Capacity</a:t>
            </a:r>
            <a:endParaRPr/>
          </a:p>
        </p:txBody>
      </p:sp>
      <p:sp>
        <p:nvSpPr>
          <p:cNvPr id="653" name="Google Shape;653;p61"/>
          <p:cNvSpPr txBox="1"/>
          <p:nvPr/>
        </p:nvSpPr>
        <p:spPr>
          <a:xfrm>
            <a:off x="6677025" y="2074800"/>
            <a:ext cx="4880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Application</a:t>
            </a:r>
            <a:r>
              <a:rPr b="1" lang="en-US" sz="20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tracking and Communication</a:t>
            </a:r>
            <a:endParaRPr sz="1300"/>
          </a:p>
        </p:txBody>
      </p:sp>
      <p:pic>
        <p:nvPicPr>
          <p:cNvPr descr="image.png" id="654" name="Google Shape;654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030332"/>
            <a:ext cx="5238750" cy="1866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5" name="Google Shape;65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4030332"/>
            <a:ext cx="5238750" cy="18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61"/>
          <p:cNvSpPr txBox="1"/>
          <p:nvPr/>
        </p:nvSpPr>
        <p:spPr>
          <a:xfrm>
            <a:off x="866775" y="4839957"/>
            <a:ext cx="4648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Marketing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of Other courses just before or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immediately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after 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compilation</a:t>
            </a:r>
            <a:r>
              <a:rPr lang="en-US" sz="15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of a course</a:t>
            </a:r>
            <a:endParaRPr/>
          </a:p>
        </p:txBody>
      </p:sp>
      <p:sp>
        <p:nvSpPr>
          <p:cNvPr id="657" name="Google Shape;657;p61"/>
          <p:cNvSpPr txBox="1"/>
          <p:nvPr/>
        </p:nvSpPr>
        <p:spPr>
          <a:xfrm>
            <a:off x="6677025" y="4839957"/>
            <a:ext cx="4648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Embedded tracking for learner progress, retention rates, and cross-sell conversion metrics.</a:t>
            </a:r>
            <a:endParaRPr/>
          </a:p>
        </p:txBody>
      </p:sp>
      <p:sp>
        <p:nvSpPr>
          <p:cNvPr id="658" name="Google Shape;658;p61"/>
          <p:cNvSpPr txBox="1"/>
          <p:nvPr/>
        </p:nvSpPr>
        <p:spPr>
          <a:xfrm>
            <a:off x="866775" y="4325607"/>
            <a:ext cx="488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Course Chain</a:t>
            </a:r>
            <a:endParaRPr/>
          </a:p>
        </p:txBody>
      </p:sp>
      <p:sp>
        <p:nvSpPr>
          <p:cNvPr id="659" name="Google Shape;659;p61"/>
          <p:cNvSpPr txBox="1"/>
          <p:nvPr/>
        </p:nvSpPr>
        <p:spPr>
          <a:xfrm>
            <a:off x="6677025" y="4325607"/>
            <a:ext cx="4880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Data Analytics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62"/>
          <p:cNvSpPr/>
          <p:nvPr/>
        </p:nvSpPr>
        <p:spPr>
          <a:xfrm>
            <a:off x="661492" y="1427163"/>
            <a:ext cx="1574205" cy="367903"/>
          </a:xfrm>
          <a:prstGeom prst="roundRect">
            <a:avLst>
              <a:gd fmla="val 17263" name="adj"/>
            </a:avLst>
          </a:prstGeom>
          <a:noFill/>
          <a:ln cap="flat" cmpd="sng" w="9525">
            <a:solidFill>
              <a:srgbClr val="2B0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62"/>
          <p:cNvSpPr/>
          <p:nvPr/>
        </p:nvSpPr>
        <p:spPr>
          <a:xfrm>
            <a:off x="781248" y="1490167"/>
            <a:ext cx="1944291" cy="241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B0A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IMPLEMENTATION</a:t>
            </a:r>
            <a:endParaRPr b="0" i="0" sz="1100" u="none" cap="none" strike="noStrike"/>
          </a:p>
        </p:txBody>
      </p:sp>
      <p:sp>
        <p:nvSpPr>
          <p:cNvPr id="667" name="Google Shape;667;p62"/>
          <p:cNvSpPr/>
          <p:nvPr/>
        </p:nvSpPr>
        <p:spPr>
          <a:xfrm>
            <a:off x="661492" y="1870671"/>
            <a:ext cx="8856167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Inter"/>
              <a:buNone/>
            </a:pPr>
            <a:r>
              <a:rPr b="1" i="0" lang="en-US" sz="3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Technical Implementation Checklist</a:t>
            </a:r>
            <a:endParaRPr b="0" i="0" sz="3700" u="none" cap="none" strike="noStrike"/>
          </a:p>
        </p:txBody>
      </p:sp>
      <p:sp>
        <p:nvSpPr>
          <p:cNvPr id="668" name="Google Shape;668;p62"/>
          <p:cNvSpPr/>
          <p:nvPr/>
        </p:nvSpPr>
        <p:spPr>
          <a:xfrm>
            <a:off x="661492" y="2933799"/>
            <a:ext cx="383391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Content Production Pipeline</a:t>
            </a:r>
            <a:endParaRPr b="0" i="0" sz="1800" u="none" cap="none" strike="noStrike"/>
          </a:p>
        </p:txBody>
      </p:sp>
      <p:sp>
        <p:nvSpPr>
          <p:cNvPr id="669" name="Google Shape;669;p62"/>
          <p:cNvSpPr/>
          <p:nvPr/>
        </p:nvSpPr>
        <p:spPr>
          <a:xfrm>
            <a:off x="661492" y="3418085"/>
            <a:ext cx="5203924" cy="1946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6355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Char char="•"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Finalize curriculums for 15+ crash courses and core tech tracks</a:t>
            </a:r>
            <a:endParaRPr b="0" i="0" sz="1500" u="none" cap="none" strike="noStrike"/>
          </a:p>
          <a:p>
            <a:pPr indent="-46355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Char char="•"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Script facilitator presentations and establish video recording guidelines</a:t>
            </a:r>
            <a:endParaRPr b="0" i="0" sz="1500" u="none" cap="none" strike="noStrike"/>
          </a:p>
          <a:p>
            <a:pPr indent="-46355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Char char="•"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Set post-production schedules for steady content release</a:t>
            </a:r>
            <a:endParaRPr b="0" i="0" sz="1500" u="none" cap="none" strike="noStrike"/>
          </a:p>
        </p:txBody>
      </p:sp>
      <p:sp>
        <p:nvSpPr>
          <p:cNvPr id="670" name="Google Shape;670;p62"/>
          <p:cNvSpPr/>
          <p:nvPr/>
        </p:nvSpPr>
        <p:spPr>
          <a:xfrm>
            <a:off x="6332935" y="2933799"/>
            <a:ext cx="335637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Web &amp; LMS Engineering</a:t>
            </a:r>
            <a:endParaRPr b="0" i="0" sz="1800" u="none" cap="none" strike="noStrike"/>
          </a:p>
        </p:txBody>
      </p:sp>
      <p:sp>
        <p:nvSpPr>
          <p:cNvPr id="671" name="Google Shape;671;p62"/>
          <p:cNvSpPr/>
          <p:nvPr/>
        </p:nvSpPr>
        <p:spPr>
          <a:xfrm>
            <a:off x="6332935" y="3418085"/>
            <a:ext cx="5203924" cy="1946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6355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Char char="•"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Connect web forms to LMS via webhooks/API for automated account generation</a:t>
            </a:r>
            <a:endParaRPr b="0" i="0" sz="1500" u="none" cap="none" strike="noStrike"/>
          </a:p>
          <a:p>
            <a:pPr indent="-46355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Char char="•"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Deploy recurring billing (Paystack/Flutterwave) for monthly subscriptions</a:t>
            </a:r>
            <a:endParaRPr b="0" i="0" sz="1500" u="none" cap="none" strike="noStrike"/>
          </a:p>
          <a:p>
            <a:pPr indent="-463550" lvl="0" marL="45720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Inter"/>
              <a:buChar char="•"/>
            </a:pPr>
            <a:r>
              <a:rPr b="0" i="0" lang="en-US" sz="15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Configure LMS grading engine to auto-issue digital certificates on completion</a:t>
            </a:r>
            <a:endParaRPr b="0" i="0" sz="1500" u="none" cap="none" strike="noStrike"/>
          </a:p>
        </p:txBody>
      </p:sp>
      <p:sp>
        <p:nvSpPr>
          <p:cNvPr id="672" name="Google Shape;672;p62"/>
          <p:cNvSpPr/>
          <p:nvPr/>
        </p:nvSpPr>
        <p:spPr>
          <a:xfrm>
            <a:off x="10671775" y="6339125"/>
            <a:ext cx="1520100" cy="461400"/>
          </a:xfrm>
          <a:prstGeom prst="rect">
            <a:avLst/>
          </a:prstGeom>
          <a:solidFill>
            <a:srgbClr val="30302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63"/>
          <p:cNvSpPr txBox="1"/>
          <p:nvPr/>
        </p:nvSpPr>
        <p:spPr>
          <a:xfrm>
            <a:off x="819300" y="1736639"/>
            <a:ext cx="8799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1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Dynamic Physical Bootcamps</a:t>
            </a:r>
            <a:endParaRPr sz="2324">
              <a:solidFill>
                <a:schemeClr val="lt1"/>
              </a:solidFill>
            </a:endParaRPr>
          </a:p>
        </p:txBody>
      </p:sp>
      <p:sp>
        <p:nvSpPr>
          <p:cNvPr id="678" name="Google Shape;678;p63"/>
          <p:cNvSpPr txBox="1"/>
          <p:nvPr/>
        </p:nvSpPr>
        <p:spPr>
          <a:xfrm>
            <a:off x="819250" y="2232210"/>
            <a:ext cx="8380500" cy="7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2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Engaging holiday tech tracks configured to capture children, teens, and undergraduates looking to upskill.</a:t>
            </a:r>
            <a:endParaRPr sz="2324">
              <a:solidFill>
                <a:schemeClr val="lt1"/>
              </a:solidFill>
            </a:endParaRPr>
          </a:p>
        </p:txBody>
      </p:sp>
      <p:sp>
        <p:nvSpPr>
          <p:cNvPr id="679" name="Google Shape;679;p63"/>
          <p:cNvSpPr txBox="1"/>
          <p:nvPr/>
        </p:nvSpPr>
        <p:spPr>
          <a:xfrm>
            <a:off x="1230408" y="3557961"/>
            <a:ext cx="75582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3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Front-End Interface:</a:t>
            </a:r>
            <a:r>
              <a:rPr b="0" i="0" lang="en-US" sz="1743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Multi-tiered web checkout pages separating track options (Kids vs. Undergrads).</a:t>
            </a:r>
            <a:endParaRPr sz="2324">
              <a:solidFill>
                <a:schemeClr val="lt1"/>
              </a:solidFill>
            </a:endParaRPr>
          </a:p>
        </p:txBody>
      </p:sp>
      <p:sp>
        <p:nvSpPr>
          <p:cNvPr id="680" name="Google Shape;680;p63"/>
          <p:cNvSpPr txBox="1"/>
          <p:nvPr/>
        </p:nvSpPr>
        <p:spPr>
          <a:xfrm>
            <a:off x="1230408" y="4424152"/>
            <a:ext cx="7558200" cy="6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43" u="none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Back-End Registration:</a:t>
            </a:r>
            <a:r>
              <a:rPr b="0" i="0" lang="en-US" sz="1743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Parental consent flow and cohort allocation thresholds fully maintained on backend databases.</a:t>
            </a:r>
            <a:endParaRPr sz="2324">
              <a:solidFill>
                <a:schemeClr val="lt1"/>
              </a:solidFill>
            </a:endParaRPr>
          </a:p>
        </p:txBody>
      </p:sp>
      <p:sp>
        <p:nvSpPr>
          <p:cNvPr id="681" name="Google Shape;681;p63"/>
          <p:cNvSpPr txBox="1"/>
          <p:nvPr/>
        </p:nvSpPr>
        <p:spPr>
          <a:xfrm>
            <a:off x="904875" y="571500"/>
            <a:ext cx="11051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Summer Training Funnel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82" name="Google Shape;682;p63"/>
          <p:cNvSpPr/>
          <p:nvPr/>
        </p:nvSpPr>
        <p:spPr>
          <a:xfrm>
            <a:off x="762000" y="571500"/>
            <a:ext cx="57300" cy="4344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64"/>
          <p:cNvSpPr/>
          <p:nvPr/>
        </p:nvSpPr>
        <p:spPr>
          <a:xfrm>
            <a:off x="1001216" y="430312"/>
            <a:ext cx="1267420" cy="269577"/>
          </a:xfrm>
          <a:prstGeom prst="roundRect">
            <a:avLst>
              <a:gd fmla="val 18406" name="adj"/>
            </a:avLst>
          </a:prstGeom>
          <a:noFill/>
          <a:ln cap="flat" cmpd="sng" w="9525">
            <a:solidFill>
              <a:srgbClr val="2B0A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64"/>
          <p:cNvSpPr/>
          <p:nvPr/>
        </p:nvSpPr>
        <p:spPr>
          <a:xfrm>
            <a:off x="1096169" y="480913"/>
            <a:ext cx="1687116" cy="168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2B0AFF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2B0AFF"/>
                </a:solidFill>
                <a:latin typeface="Inter"/>
                <a:ea typeface="Inter"/>
                <a:cs typeface="Inter"/>
                <a:sym typeface="Inter"/>
              </a:rPr>
              <a:t>GTM — LIFECYCLE</a:t>
            </a:r>
            <a:endParaRPr b="0" i="0" sz="900" u="none" cap="none" strike="noStrike"/>
          </a:p>
        </p:txBody>
      </p:sp>
      <p:sp>
        <p:nvSpPr>
          <p:cNvPr id="690" name="Google Shape;690;p64"/>
          <p:cNvSpPr/>
          <p:nvPr/>
        </p:nvSpPr>
        <p:spPr>
          <a:xfrm>
            <a:off x="1001216" y="746025"/>
            <a:ext cx="6864747" cy="4614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Inter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Lifecycle Marketing &amp; Engagement</a:t>
            </a:r>
            <a:endParaRPr b="0" i="0" sz="2900" u="none" cap="none" strike="noStrike"/>
          </a:p>
        </p:txBody>
      </p:sp>
      <p:pic>
        <p:nvPicPr>
          <p:cNvPr descr="preencoded.png" id="691" name="Google Shape;69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0031" y="1380529"/>
            <a:ext cx="9151739" cy="3312915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64"/>
          <p:cNvSpPr/>
          <p:nvPr/>
        </p:nvSpPr>
        <p:spPr>
          <a:xfrm>
            <a:off x="2191877" y="3884761"/>
            <a:ext cx="2752367" cy="286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Paid Monthly Subscriber</a:t>
            </a:r>
            <a:endParaRPr b="0" i="0" sz="1800" u="none" cap="none" strike="noStrike"/>
          </a:p>
        </p:txBody>
      </p:sp>
      <p:sp>
        <p:nvSpPr>
          <p:cNvPr id="693" name="Google Shape;693;p64"/>
          <p:cNvSpPr/>
          <p:nvPr/>
        </p:nvSpPr>
        <p:spPr>
          <a:xfrm>
            <a:off x="2191877" y="2886216"/>
            <a:ext cx="2292577" cy="286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Free LMS User</a:t>
            </a:r>
            <a:endParaRPr b="0" i="0" sz="1800" u="none" cap="none" strike="noStrike"/>
          </a:p>
        </p:txBody>
      </p:sp>
      <p:sp>
        <p:nvSpPr>
          <p:cNvPr id="694" name="Google Shape;694;p64"/>
          <p:cNvSpPr/>
          <p:nvPr/>
        </p:nvSpPr>
        <p:spPr>
          <a:xfrm>
            <a:off x="2191877" y="1877483"/>
            <a:ext cx="2292577" cy="286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Webinar Registrant</a:t>
            </a:r>
            <a:endParaRPr b="0" i="0" sz="1800" u="none" cap="none" strike="noStrike"/>
          </a:p>
        </p:txBody>
      </p:sp>
      <p:sp>
        <p:nvSpPr>
          <p:cNvPr id="695" name="Google Shape;695;p64"/>
          <p:cNvSpPr/>
          <p:nvPr/>
        </p:nvSpPr>
        <p:spPr>
          <a:xfrm>
            <a:off x="1001216" y="4823221"/>
            <a:ext cx="10799068" cy="2103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Custom automated email sequences convert users at each stage of the product journey — from first touchpoint to paying subscriber.</a:t>
            </a:r>
            <a:endParaRPr b="0" i="0" sz="1100" u="none" cap="none" strike="noStrike"/>
          </a:p>
        </p:txBody>
      </p:sp>
      <p:sp>
        <p:nvSpPr>
          <p:cNvPr id="696" name="Google Shape;696;p64"/>
          <p:cNvSpPr/>
          <p:nvPr/>
        </p:nvSpPr>
        <p:spPr>
          <a:xfrm>
            <a:off x="1225053" y="5330031"/>
            <a:ext cx="2230933" cy="230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Conversion Optimization</a:t>
            </a:r>
            <a:endParaRPr b="0" i="0" sz="1400" u="none" cap="none" strike="noStrike"/>
          </a:p>
        </p:txBody>
      </p:sp>
      <p:sp>
        <p:nvSpPr>
          <p:cNvPr id="697" name="Google Shape;697;p64"/>
          <p:cNvSpPr/>
          <p:nvPr/>
        </p:nvSpPr>
        <p:spPr>
          <a:xfrm>
            <a:off x="1225053" y="5629871"/>
            <a:ext cx="4646513" cy="420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Targeted mid-month email promotions highlighting new course additions to drive active subscriber retention and reduce churn.</a:t>
            </a:r>
            <a:endParaRPr b="0" i="0" sz="1100" u="none" cap="none" strike="noStrike"/>
          </a:p>
        </p:txBody>
      </p:sp>
      <p:sp>
        <p:nvSpPr>
          <p:cNvPr id="698" name="Google Shape;698;p64"/>
          <p:cNvSpPr/>
          <p:nvPr/>
        </p:nvSpPr>
        <p:spPr>
          <a:xfrm>
            <a:off x="6377384" y="5330031"/>
            <a:ext cx="2215952" cy="2306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Engagement Conversion</a:t>
            </a:r>
            <a:endParaRPr b="0" i="0" sz="1400" u="none" cap="none" strike="noStrike"/>
          </a:p>
        </p:txBody>
      </p:sp>
      <p:sp>
        <p:nvSpPr>
          <p:cNvPr id="699" name="Google Shape;699;p64"/>
          <p:cNvSpPr/>
          <p:nvPr/>
        </p:nvSpPr>
        <p:spPr>
          <a:xfrm>
            <a:off x="6377384" y="5629871"/>
            <a:ext cx="4646612" cy="6310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Direct non-paying website visitors to create free LMS accounts to access the Webinar Vault — bringing fresh leads into the product ecosystem.</a:t>
            </a:r>
            <a:endParaRPr b="0" i="0" sz="1100" u="none" cap="none" strike="noStrike"/>
          </a:p>
        </p:txBody>
      </p:sp>
      <p:sp>
        <p:nvSpPr>
          <p:cNvPr id="700" name="Google Shape;700;p64"/>
          <p:cNvSpPr/>
          <p:nvPr/>
        </p:nvSpPr>
        <p:spPr>
          <a:xfrm>
            <a:off x="10671775" y="6339125"/>
            <a:ext cx="1520100" cy="461400"/>
          </a:xfrm>
          <a:prstGeom prst="rect">
            <a:avLst/>
          </a:prstGeom>
          <a:solidFill>
            <a:srgbClr val="30302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65"/>
          <p:cNvSpPr/>
          <p:nvPr/>
        </p:nvSpPr>
        <p:spPr>
          <a:xfrm>
            <a:off x="2835375" y="1369417"/>
            <a:ext cx="50197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Marketing Channel Usage by Segment</a:t>
            </a:r>
            <a:endParaRPr b="0" i="0" sz="1800" u="none" cap="none" strike="noStrike"/>
          </a:p>
        </p:txBody>
      </p:sp>
      <p:pic>
        <p:nvPicPr>
          <p:cNvPr descr="preencoded.png" id="707" name="Google Shape;70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5375" y="1735535"/>
            <a:ext cx="6521252" cy="3651845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65"/>
          <p:cNvSpPr/>
          <p:nvPr/>
        </p:nvSpPr>
        <p:spPr>
          <a:xfrm>
            <a:off x="2835375" y="5440461"/>
            <a:ext cx="6521252" cy="226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700"/>
              <a:buFont typeface="Inter"/>
              <a:buNone/>
            </a:pPr>
            <a:r>
              <a:rPr b="0" i="0" lang="en-US" sz="700" u="none" cap="none" strike="noStrike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B2C consistently leads channel adoption across all categories, followed by Retargeting and B2B. Influencer Marketing shows the highest overall usage at 90% for B2C campaigns.</a:t>
            </a:r>
            <a:endParaRPr b="0" i="0" sz="700" u="none" cap="none" strike="noStrike"/>
          </a:p>
        </p:txBody>
      </p:sp>
      <p:sp>
        <p:nvSpPr>
          <p:cNvPr id="709" name="Google Shape;709;p65"/>
          <p:cNvSpPr/>
          <p:nvPr/>
        </p:nvSpPr>
        <p:spPr>
          <a:xfrm>
            <a:off x="10671775" y="6339125"/>
            <a:ext cx="1520100" cy="461400"/>
          </a:xfrm>
          <a:prstGeom prst="rect">
            <a:avLst/>
          </a:prstGeom>
          <a:solidFill>
            <a:srgbClr val="30302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ustom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